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本文研究驾驶风格对网联自主车辆换道意图预测的影响。报告依次介绍研究动机、轨迹数据与风格划分、双层 ConvLSTM 模型、实验结果和局限。论文发表于《山东理工大学学报》2026 年第 40 卷第 2 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汇报分四部分。先说明换道意图预测的研究背景和已有方法；再介绍 NGSIM 数据处理与驾驶风格聚类；随后梳理 ConvLSTM 结构；最后结合混淆矩阵和模型对比评价结果。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换道意图识别为高级辅助驾驶系统提供信息，也为后续轨迹预测和行为安全控制提供依据。本文把意图预测视为三分类任务，分别预测向左换道、向右换道和车道保持。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论文把已有研究概括为传统机器学习和深度学习两类。传统方法包括支持向量机、人工蜂群优化支持向量机、隐马尔可夫模型等；深度方法结合时序网络、卷积网络和注意力机制。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作者认为现有预测多关注车辆运动状态，却较少考虑运动背后的驾驶风格。本文先利用聚类划分驾驶风格，再分别用轨迹数据训练和验证换道意图预测模型，以考察风格因素的作用。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研究使用 NGSIM 的 US-101 与 I-80 高速公路轨迹数据，三个采集时段总计九十分钟。考虑到该数据发布较早且采集受环境干扰，作者采用小波分解法降噪，图一展示横向位置曲线的变化。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筛选过程限定小汽车，要求换道前五秒及换道后三秒的完整轨迹，并补充车道保持样本。作者同时剔除偏离均值较大、中途停车或瞬时速度异常的数据，最终得到一千四百五十一条轨迹。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驾驶风格初选六项特征，覆盖速度、加速度和车头时距的均值与标准差。KMO 和巴特利特检验支持降维；前三个主成分累计解释百分之八十二点二二二的方差，最终选取三项代表特征。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作者比较聚类算法后选择 k-means，并基于保守型、一般型、激进型三种风格将聚类数直接设为三。三类轨迹的速度与加速度均值逐步升高；数量分别为五百三十五、五百八十二和三百三十四。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ConvLSTM 把传统 LSTM 的全连接运算替换为卷积，使网络同时处理时间演变与空间信息。输入门控制新信息，遗忘门决定历史信息保留，输出门决定隐藏状态的输出。图四来自论文原图。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预测网络依次由输入、两层 ConvLSTM、全连接层、Softmax 层和输出构成。第二层接收第一层的隐藏状态，全连接层提取最后的特征用于分类，Softmax 将分类输出转换为各意图类别的概率。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实验使用 Python 三点九和 PyTorch 二点零，在 RTX 4060 平台运行。学习率为零点零一，使用 Adam 优化器、零点二的 Dropout，训练一千次，批量大小一百二十八。各风格按八比二划分数据。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从分风格结果看，保守型准确率最高，为百分之九十六点零七；一般型为百分之九十四点六七；激进型为百分之九十二点八一。论文将较低表现与激进型轨迹更长、行为更复杂联系起来。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四模型比较显示，未划分风格的 ConvLSTM 准确率为百分之八十九点五九，加入风格划分后达到百分之九十四点七六，提高五点一七个百分点。相较 CNN 和 LSTM 基线，提升分别为七点四九和九点二三个百分点。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论文表明，驾驶风格划分与换道意图预测准确率提升相关，其中保守型表现最好。作者也指出，受数据集限制，混淆矩阵中部分误分类率较高。后续需要扩大数据量并平衡轨迹信息。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考虑驾驶风格的网联自主车辆换道意图预测方法  [约 30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文献汇报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10515600" cy="12344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3400" b="1">
                <a:solidFill>
                  <a:srgbClr val="1F3864"/>
                </a:solidFill>
                <a:latin typeface="Times New Roman"/>
                <a:ea typeface="微软雅黑"/>
              </a:rPr>
              <a:t>考虑驾驶风格的网联自主车辆</a:t>
            </a:r>
          </a:p>
          <a:p>
            <a:pPr>
              <a:spcAft>
                <a:spcPts val="500"/>
              </a:spcAft>
            </a:pPr>
            <a:r>
              <a:rPr sz="3400" b="1">
                <a:solidFill>
                  <a:srgbClr val="1F3864"/>
                </a:solidFill>
                <a:latin typeface="Times New Roman"/>
                <a:ea typeface="微软雅黑"/>
              </a:rPr>
              <a:t>换道意图预测方法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005840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000" b="0">
                <a:solidFill>
                  <a:srgbClr val="333333"/>
                </a:solidFill>
                <a:latin typeface="Times New Roman"/>
                <a:ea typeface="微软雅黑"/>
              </a:rPr>
              <a:t>李文杰 · 曲大义 · 崔善柠 · 张智 · 韦良帅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520440"/>
            <a:ext cx="10058400" cy="3840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青岛理工大学机械与汽车工程学院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77639"/>
            <a:ext cx="10058400" cy="3840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  <a:latin typeface="Times New Roman"/>
                <a:ea typeface="微软雅黑"/>
              </a:rPr>
              <a:t>《山东理工大学学报（自然科学版）》2026，40(2)：36–42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74920"/>
            <a:ext cx="10058400" cy="3840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  <a:latin typeface="Times New Roman"/>
                <a:ea typeface="微软雅黑"/>
              </a:rPr>
              <a:t>汇报人：董浩     日期：2026 年 10 月 13 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23560"/>
            <a:ext cx="1005840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5F6977"/>
                </a:solidFill>
                <a:latin typeface="Times New Roman"/>
                <a:ea typeface="微软雅黑"/>
              </a:rPr>
              <a:t>DOI：10.13367/j.cnki.sdgc.2026.02.002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汇报目录  [约 30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5166360" cy="1536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691639"/>
            <a:ext cx="73152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700" b="1">
                <a:solidFill>
                  <a:srgbClr val="436AA1"/>
                </a:solidFill>
                <a:latin typeface="Times New Roman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19072"/>
            <a:ext cx="3840480" cy="7772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300" b="1">
                <a:solidFill>
                  <a:srgbClr val="1F3864"/>
                </a:solidFill>
                <a:latin typeface="Times New Roman"/>
                <a:ea typeface="微软雅黑"/>
              </a:rPr>
              <a:t>研究背景与现状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508760"/>
            <a:ext cx="5166360" cy="1536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691639"/>
            <a:ext cx="73152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700" b="1">
                <a:solidFill>
                  <a:srgbClr val="436AA1"/>
                </a:solidFill>
                <a:latin typeface="Times New Roman"/>
                <a:ea typeface="微软雅黑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1719072"/>
            <a:ext cx="3840480" cy="7772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300" b="1">
                <a:solidFill>
                  <a:srgbClr val="1F3864"/>
                </a:solidFill>
                <a:latin typeface="Times New Roman"/>
                <a:ea typeface="微软雅黑"/>
              </a:rPr>
              <a:t>数据处理与驾驶风格划分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566160"/>
            <a:ext cx="5166360" cy="1536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749039"/>
            <a:ext cx="73152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700" b="1">
                <a:solidFill>
                  <a:srgbClr val="436AA1"/>
                </a:solidFill>
                <a:latin typeface="Times New Roman"/>
                <a:ea typeface="微软雅黑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776472"/>
            <a:ext cx="3840480" cy="7772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300" b="1">
                <a:solidFill>
                  <a:srgbClr val="1F3864"/>
                </a:solidFill>
                <a:latin typeface="Times New Roman"/>
                <a:ea typeface="微软雅黑"/>
              </a:rPr>
              <a:t>ConvLSTM 预测模型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3566160"/>
            <a:ext cx="5166360" cy="1536192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3749039"/>
            <a:ext cx="731520" cy="4389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700" b="1">
                <a:solidFill>
                  <a:srgbClr val="436AA1"/>
                </a:solidFill>
                <a:latin typeface="Times New Roman"/>
                <a:ea typeface="微软雅黑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3776472"/>
            <a:ext cx="3840480" cy="7772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300" b="1">
                <a:solidFill>
                  <a:srgbClr val="1F3864"/>
                </a:solidFill>
                <a:latin typeface="Times New Roman"/>
                <a:ea typeface="微软雅黑"/>
              </a:rPr>
              <a:t>实验验证与结论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研究背景与意义  [约 35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10515600" cy="9509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100" b="0">
                <a:solidFill>
                  <a:srgbClr val="333333"/>
                </a:solidFill>
                <a:latin typeface="Times New Roman"/>
                <a:ea typeface="微软雅黑"/>
              </a:rPr>
              <a:t>•  CAV 行为意图受交通场景多维要素交互影响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0515600" cy="9509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100" b="0">
                <a:solidFill>
                  <a:srgbClr val="333333"/>
                </a:solidFill>
                <a:latin typeface="Times New Roman"/>
                <a:ea typeface="微软雅黑"/>
              </a:rPr>
              <a:t>•  换道意图识别是 ADAS 的关键技术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9584"/>
            <a:ext cx="10515600" cy="9509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100" b="0">
                <a:solidFill>
                  <a:srgbClr val="333333"/>
                </a:solidFill>
                <a:latin typeface="Times New Roman"/>
                <a:ea typeface="微软雅黑"/>
              </a:rPr>
              <a:t>•  识别结果为轨迹预测与安全控制提供依据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553712"/>
            <a:ext cx="10515600" cy="9509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100" b="0">
                <a:solidFill>
                  <a:srgbClr val="333333"/>
                </a:solidFill>
                <a:latin typeface="Times New Roman"/>
                <a:ea typeface="微软雅黑"/>
              </a:rPr>
              <a:t>•  任务定义：左换道、右换道、车道保持三分类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国内外研究现状  [约 40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280160"/>
            <a:ext cx="5330952" cy="4892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44768" y="1280160"/>
            <a:ext cx="5330952" cy="48920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08760"/>
            <a:ext cx="4663440" cy="4572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300" b="1">
                <a:solidFill>
                  <a:srgbClr val="1F3864"/>
                </a:solidFill>
                <a:latin typeface="Times New Roman"/>
                <a:ea typeface="微软雅黑"/>
              </a:rPr>
              <a:t>传统机器学习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94560"/>
            <a:ext cx="4709160" cy="7315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SVM：识别换道意图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999232"/>
            <a:ext cx="4709160" cy="7315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ABC-SVM：优化 SVM 参数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803904"/>
            <a:ext cx="4709160" cy="7315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HMM：隐马尔可夫模型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608576"/>
            <a:ext cx="4709160" cy="7315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GMM-CHMM：结合混合模型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508760"/>
            <a:ext cx="4663440" cy="4572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300" b="1">
                <a:solidFill>
                  <a:srgbClr val="1F3864"/>
                </a:solidFill>
                <a:latin typeface="Times New Roman"/>
                <a:ea typeface="微软雅黑"/>
              </a:rPr>
              <a:t>深度学习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194560"/>
            <a:ext cx="4709160" cy="7315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LSTM：目标车与周围 6 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999232"/>
            <a:ext cx="4709160" cy="7315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CNN + LSTM + 多头注意力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3803904"/>
            <a:ext cx="4709160" cy="7315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Transformer：序列建模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608576"/>
            <a:ext cx="4709160" cy="7315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Attention + CNN：提取环境信息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问题与本文思路  [约 35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508760"/>
            <a:ext cx="493776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618488"/>
            <a:ext cx="4681728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5F6977"/>
                </a:solidFill>
                <a:latin typeface="Times New Roman"/>
                <a:ea typeface="微软雅黑"/>
              </a:rPr>
              <a:t>研究问题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975104"/>
            <a:ext cx="4681728" cy="58521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3000" b="1">
                <a:solidFill>
                  <a:srgbClr val="1F3864"/>
                </a:solidFill>
                <a:latin typeface="Times New Roman"/>
                <a:ea typeface="微软雅黑"/>
              </a:rPr>
              <a:t>仅关注运动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569463"/>
            <a:ext cx="4681728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F6977"/>
                </a:solidFill>
                <a:latin typeface="Times New Roman"/>
                <a:ea typeface="微软雅黑"/>
              </a:rPr>
              <a:t>忽略运动背后的背景与意图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4937760" cy="18288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618488"/>
            <a:ext cx="4681728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5F6977"/>
                </a:solidFill>
                <a:latin typeface="Times New Roman"/>
                <a:ea typeface="微软雅黑"/>
              </a:rPr>
              <a:t>本文做法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1975104"/>
            <a:ext cx="4681728" cy="58521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3000" b="1">
                <a:solidFill>
                  <a:srgbClr val="1F3864"/>
                </a:solidFill>
                <a:latin typeface="Times New Roman"/>
                <a:ea typeface="微软雅黑"/>
              </a:rPr>
              <a:t>引入驾驶风格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569463"/>
            <a:ext cx="4681728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5F6977"/>
                </a:solidFill>
                <a:latin typeface="Times New Roman"/>
                <a:ea typeface="微软雅黑"/>
              </a:rPr>
              <a:t>轨迹聚类后进行意图预测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977639"/>
            <a:ext cx="10149840" cy="10972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2400" b="1">
                <a:solidFill>
                  <a:srgbClr val="1F3864"/>
                </a:solidFill>
                <a:latin typeface="Times New Roman"/>
                <a:ea typeface="微软雅黑"/>
              </a:rPr>
              <a:t>驾驶风格划分  →  ConvLSTM 预测  →  比较分类准确率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数据处理：数据来源与降噪  [约 40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数据处理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25880"/>
            <a:ext cx="4754880" cy="6126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NGSIM：US-101 与 I-80 高速轨迹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11680"/>
            <a:ext cx="4754880" cy="6126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采集时段合计 90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97480"/>
            <a:ext cx="4754880" cy="6126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2007 年发布；采用小波分解法降噪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40480"/>
            <a:ext cx="4663440" cy="7315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Times New Roman"/>
                <a:ea typeface="微软雅黑"/>
              </a:rPr>
              <a:t>US-101  07:50–08:35</a:t>
            </a:r>
          </a:p>
          <a:p>
            <a:pPr>
              <a:spcAft>
                <a:spcPts val="500"/>
              </a:spcAft>
            </a:pPr>
            <a:r>
              <a:rPr sz="1600" b="0">
                <a:solidFill>
                  <a:srgbClr val="333333"/>
                </a:solidFill>
                <a:latin typeface="Times New Roman"/>
                <a:ea typeface="微软雅黑"/>
              </a:rPr>
              <a:t>I-80  16:00–16:15、17:00–17:30</a:t>
            </a:r>
          </a:p>
        </p:txBody>
      </p:sp>
      <p:pic>
        <p:nvPicPr>
          <p:cNvPr id="11" name="Picture 10" descr="fi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417320"/>
            <a:ext cx="5486400" cy="411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0" y="5596128"/>
            <a:ext cx="5486400" cy="28346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F6977"/>
                </a:solidFill>
                <a:latin typeface="Times New Roman"/>
                <a:ea typeface="微软雅黑"/>
              </a:rPr>
              <a:t>图1 引自原文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数据处理：轨迹筛选  [约 40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数据处理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7315200" cy="640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333333"/>
                </a:solidFill>
                <a:latin typeface="Times New Roman"/>
                <a:ea typeface="微软雅黑"/>
              </a:rPr>
              <a:t>•  仅保留小汽车轨迹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75104"/>
            <a:ext cx="7315200" cy="640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333333"/>
                </a:solidFill>
                <a:latin typeface="Times New Roman"/>
                <a:ea typeface="微软雅黑"/>
              </a:rPr>
              <a:t>•  包含换道前 5 s、后 3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88336"/>
            <a:ext cx="7315200" cy="640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333333"/>
                </a:solidFill>
                <a:latin typeface="Times New Roman"/>
                <a:ea typeface="微软雅黑"/>
              </a:rPr>
              <a:t>•  补充车道保持样本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01568"/>
            <a:ext cx="7315200" cy="640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333333"/>
                </a:solidFill>
                <a:latin typeface="Times New Roman"/>
                <a:ea typeface="微软雅黑"/>
              </a:rPr>
              <a:t>•  剔除偏离均值较大轨迹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7315200" cy="6400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333333"/>
                </a:solidFill>
                <a:latin typeface="Times New Roman"/>
                <a:ea typeface="微软雅黑"/>
              </a:rPr>
              <a:t>•  剔除停车及瞬时速度异常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508760"/>
            <a:ext cx="2834640" cy="1618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0496" y="1618488"/>
            <a:ext cx="2578608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5F6977"/>
                </a:solidFill>
                <a:latin typeface="Times New Roman"/>
                <a:ea typeface="微软雅黑"/>
              </a:rPr>
              <a:t>换道轨迹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0496" y="1975104"/>
            <a:ext cx="2578608" cy="58521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3000" b="1">
                <a:solidFill>
                  <a:srgbClr val="1F3864"/>
                </a:solidFill>
                <a:latin typeface="Times New Roman"/>
                <a:ea typeface="微软雅黑"/>
              </a:rPr>
              <a:t>852 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438144"/>
            <a:ext cx="2834640" cy="1618488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0496" y="3547872"/>
            <a:ext cx="2578608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5F6977"/>
                </a:solidFill>
                <a:latin typeface="Times New Roman"/>
                <a:ea typeface="微软雅黑"/>
              </a:rPr>
              <a:t>车道保持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0496" y="3904487"/>
            <a:ext cx="2578608" cy="58521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3000" b="1">
                <a:solidFill>
                  <a:srgbClr val="1F3864"/>
                </a:solidFill>
                <a:latin typeface="Times New Roman"/>
                <a:ea typeface="微软雅黑"/>
              </a:rPr>
              <a:t>599 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驾驶风格特征提取与 PCA  [约 50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驾驶风格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80160"/>
            <a:ext cx="5989320" cy="8412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  <a:latin typeface="Times New Roman"/>
                <a:ea typeface="微软雅黑"/>
              </a:rPr>
              <a:t>•  初选速度、加速度和车头时距等 6 项特征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5989320" cy="8412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  <a:latin typeface="Times New Roman"/>
                <a:ea typeface="微软雅黑"/>
              </a:rPr>
              <a:t>•  KMO = 0.624；显著性 &lt; 0.05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989320" cy="8412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  <a:latin typeface="Times New Roman"/>
                <a:ea typeface="微软雅黑"/>
              </a:rPr>
              <a:t>•  前 3 主成分累计贡献率 82.222%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5989320" cy="84124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  <a:latin typeface="Times New Roman"/>
                <a:ea typeface="微软雅黑"/>
              </a:rPr>
              <a:t>•  选取速度均值、速度标准差、加速度均值</a:t>
            </a:r>
          </a:p>
        </p:txBody>
      </p:sp>
      <p:pic>
        <p:nvPicPr>
          <p:cNvPr id="11" name="Picture 10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417320"/>
            <a:ext cx="4407408" cy="231343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903720" y="3794760"/>
            <a:ext cx="4407408" cy="28346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F6977"/>
                </a:solidFill>
                <a:latin typeface="Times New Roman"/>
                <a:ea typeface="微软雅黑"/>
              </a:rPr>
              <a:t>图2 引自原文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040880" y="4160520"/>
          <a:ext cx="4114800" cy="1618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</a:tblGrid>
              <a:tr h="40462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主成分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特征值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贡献率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4046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PC1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2.093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34.857%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046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PC2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1.688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28.114%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404622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PC3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1.156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19.251%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040880" y="5824728"/>
            <a:ext cx="4114800" cy="25603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F6977"/>
                </a:solidFill>
                <a:latin typeface="Times New Roman"/>
                <a:ea typeface="微软雅黑"/>
              </a:rPr>
              <a:t>据原文表 4 绘制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k-means 聚类与三类驾驶风格  [约 45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驾驶风格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09</a:t>
            </a:r>
          </a:p>
        </p:txBody>
      </p:sp>
      <p:pic>
        <p:nvPicPr>
          <p:cNvPr id="7" name="Picture 6" descr="fi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1417320"/>
            <a:ext cx="4754880" cy="34564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76656" y="4937760"/>
            <a:ext cx="4754880" cy="28346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F6977"/>
                </a:solidFill>
                <a:latin typeface="Times New Roman"/>
                <a:ea typeface="微软雅黑"/>
              </a:rPr>
              <a:t>图3 引自原文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94960"/>
            <a:ext cx="47548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600" b="1">
                <a:solidFill>
                  <a:srgbClr val="1F3864"/>
                </a:solidFill>
                <a:latin typeface="Times New Roman"/>
                <a:ea typeface="微软雅黑"/>
              </a:rPr>
              <a:t>k = 3：保守型、一般型、激进型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50992" y="1691640"/>
          <a:ext cx="566928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662025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指标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保守型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一般型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激进型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66202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速度均值 / m/s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25.289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32.155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37.091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6202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速度标准差 / m/s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2.891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3.327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4.353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66202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加速度均值 / m/s²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0.113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0.175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0.372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6202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数量 / 条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535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582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334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715000" y="5102352"/>
            <a:ext cx="5577840" cy="25603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F6977"/>
                </a:solidFill>
                <a:latin typeface="Times New Roman"/>
                <a:ea typeface="微软雅黑"/>
              </a:rPr>
              <a:t>据原文表 6 绘制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ConvLSTM 单元原理  [约 42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10</a:t>
            </a:r>
          </a:p>
        </p:txBody>
      </p:sp>
      <p:pic>
        <p:nvPicPr>
          <p:cNvPr id="7" name="Picture 6" descr="fig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26464"/>
            <a:ext cx="5577840" cy="4251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5742432"/>
            <a:ext cx="5577840" cy="28346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F6977"/>
                </a:solidFill>
                <a:latin typeface="Times New Roman"/>
                <a:ea typeface="微软雅黑"/>
              </a:rPr>
              <a:t>图4 引自原文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463040"/>
            <a:ext cx="4937760" cy="7223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LSTM 全连接权重改为卷积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58568"/>
            <a:ext cx="4937760" cy="7223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每个时间步引入卷积操作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54096"/>
            <a:ext cx="4937760" cy="7223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输入门 iₜ：控制新信息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849624"/>
            <a:ext cx="4937760" cy="7223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遗忘门 fₜ：保留历史状态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645152"/>
            <a:ext cx="4937760" cy="7223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800" b="0">
                <a:solidFill>
                  <a:srgbClr val="333333"/>
                </a:solidFill>
                <a:latin typeface="Times New Roman"/>
                <a:ea typeface="微软雅黑"/>
              </a:rPr>
              <a:t>•  输出门 oₜ：形成隐藏状态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换道意图预测模型结构  [约 38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11</a:t>
            </a:r>
          </a:p>
        </p:txBody>
      </p:sp>
      <p:pic>
        <p:nvPicPr>
          <p:cNvPr id="7" name="Picture 6" descr="fig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89888"/>
            <a:ext cx="10789920" cy="3246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700016"/>
            <a:ext cx="10789920" cy="28346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F6977"/>
                </a:solidFill>
                <a:latin typeface="Times New Roman"/>
                <a:ea typeface="微软雅黑"/>
              </a:rPr>
              <a:t>图5 引自原文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892040"/>
            <a:ext cx="10332720" cy="365759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  <a:latin typeface="Times New Roman"/>
                <a:ea typeface="微软雅黑"/>
              </a:rPr>
              <a:t>•  双层 ConvLSTM 逐层传递隐藏状态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330952"/>
            <a:ext cx="10332720" cy="365759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  <a:latin typeface="Times New Roman"/>
                <a:ea typeface="微软雅黑"/>
              </a:rPr>
              <a:t>•  全连接层提取特征并完成分类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769864"/>
            <a:ext cx="10332720" cy="365759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700" b="0">
                <a:solidFill>
                  <a:srgbClr val="333333"/>
                </a:solidFill>
                <a:latin typeface="Times New Roman"/>
                <a:ea typeface="微软雅黑"/>
              </a:rPr>
              <a:t>•  Softmax 输出三类意图概率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实验环境与参数  [约 40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005840" y="1307592"/>
          <a:ext cx="10149840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5074920"/>
              </a:tblGrid>
              <a:tr h="642692">
                <a:tc>
                  <a:txBody>
                    <a:bodyPr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项目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设置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6426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软件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Python 3.9 / PyTorch 2.0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426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硬件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RTX 4060 / i5-12600KF / 32 G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6426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优化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Adam；学习率 0.01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426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训练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1000 次；batch 128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642692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正则与激活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Dropout 0.2；Softmax / ReLU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42696">
                <a:tc>
                  <a:txBody>
                    <a:bodyPr/>
                    <a:lstStyle/>
                    <a:p>
                      <a:pPr algn="l"/>
                      <a:r>
                        <a:rPr sz="17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训练集 : 测试集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7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8 : 2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005840" y="5925312"/>
            <a:ext cx="10149840" cy="24688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F6977"/>
                </a:solidFill>
                <a:latin typeface="Times New Roman"/>
                <a:ea typeface="微软雅黑"/>
              </a:rPr>
              <a:t>据原文表 7 及正文整理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分风格预测结果  [约 55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280160"/>
          <a:ext cx="5669280" cy="4553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50285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风格 / 类别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精确率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召回率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准确率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3502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保守·左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97.49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95.88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96.07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502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保守·保持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95.61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96.46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3502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保守·右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92.65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95.45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502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一般·左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96.34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94.60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94.67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3502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一般·保持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95.42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95.02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502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一般·右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85.51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93.65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3502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激进·左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96.67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91.19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92.81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502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激进·保持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91.18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93.94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3502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激进·右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85.42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95.35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502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整体·左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96.83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94.26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94.76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35028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整体·保持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94.54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95.33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350292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整体·右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88.11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94.77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/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07024"/>
            <a:ext cx="5486400" cy="22860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F6977"/>
                </a:solidFill>
                <a:latin typeface="Times New Roman"/>
                <a:ea typeface="微软雅黑"/>
              </a:rPr>
              <a:t>据原文表 8 绘制；数值单位：%</a:t>
            </a:r>
          </a:p>
        </p:txBody>
      </p:sp>
      <p:pic>
        <p:nvPicPr>
          <p:cNvPr id="9" name="Picture 8" descr="fig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1371600"/>
            <a:ext cx="4892040" cy="4526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65392" y="5961888"/>
            <a:ext cx="4892040" cy="28346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F6977"/>
                </a:solidFill>
                <a:latin typeface="Times New Roman"/>
                <a:ea typeface="微软雅黑"/>
              </a:rPr>
              <a:t>图6 引自原文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模型效果对比  [约 48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04672" y="1399032"/>
          <a:ext cx="434340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700"/>
                <a:gridCol w="2171700"/>
              </a:tblGrid>
              <a:tr h="625449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模型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  <a:ea typeface="微软雅黑"/>
                        </a:rPr>
                        <a:t>准确率</a:t>
                      </a:r>
                    </a:p>
                  </a:txBody>
                  <a:tcPr marL="64008" marR="64008" marT="18288" marB="18288" anchor="ctr">
                    <a:solidFill>
                      <a:srgbClr val="1F3864"/>
                    </a:solidFill>
                  </a:tcPr>
                </a:tc>
              </a:tr>
              <a:tr h="62544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CNN*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87.27%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2544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LSTM*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85.53%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  <a:tr h="625449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ConvLSTM*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89.59%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625452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ConvLSTM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333333"/>
                          </a:solidFill>
                          <a:latin typeface="Times New Roman"/>
                          <a:ea typeface="微软雅黑"/>
                        </a:rPr>
                        <a:t>94.76%</a:t>
                      </a:r>
                    </a:p>
                  </a:txBody>
                  <a:tcPr marL="64008" marR="64008" marT="18288" marB="18288"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4626864"/>
            <a:ext cx="4297680" cy="246888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5F6977"/>
                </a:solidFill>
                <a:latin typeface="Times New Roman"/>
                <a:ea typeface="微软雅黑"/>
              </a:rPr>
              <a:t>据原文表 9 绘制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157216"/>
            <a:ext cx="4315968" cy="59436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5F6977"/>
                </a:solidFill>
                <a:latin typeface="Times New Roman"/>
                <a:ea typeface="微软雅黑"/>
              </a:rPr>
              <a:t>* 表示未划分驾驶风格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508760"/>
            <a:ext cx="141732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Times New Roman"/>
                <a:ea typeface="微软雅黑"/>
              </a:rPr>
              <a:t>CNN*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12864" y="1517904"/>
            <a:ext cx="3968496" cy="274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12864" y="1517904"/>
            <a:ext cx="3463306" cy="27432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17352" y="1490472"/>
            <a:ext cx="932688" cy="3291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  <a:ea typeface="微软雅黑"/>
              </a:rPr>
              <a:t>87.27%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569463"/>
            <a:ext cx="141732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Times New Roman"/>
                <a:ea typeface="微软雅黑"/>
              </a:rPr>
              <a:t>LSTM*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12864" y="2578607"/>
            <a:ext cx="3968496" cy="274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12864" y="2578607"/>
            <a:ext cx="3394254" cy="27432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17352" y="2551175"/>
            <a:ext cx="932688" cy="3291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  <a:ea typeface="微软雅黑"/>
              </a:rPr>
              <a:t>85.53%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630168"/>
            <a:ext cx="141732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Times New Roman"/>
                <a:ea typeface="微软雅黑"/>
              </a:rPr>
              <a:t>ConvLSTM*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12864" y="3639311"/>
            <a:ext cx="3968496" cy="274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12864" y="3639311"/>
            <a:ext cx="3555375" cy="27432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17352" y="3611879"/>
            <a:ext cx="932688" cy="3291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  <a:ea typeface="微软雅黑"/>
              </a:rPr>
              <a:t>89.59%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690871"/>
            <a:ext cx="1417320" cy="32004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500" b="1">
                <a:solidFill>
                  <a:srgbClr val="1F3864"/>
                </a:solidFill>
                <a:latin typeface="Times New Roman"/>
                <a:ea typeface="微软雅黑"/>
              </a:rPr>
              <a:t>ConvLSTM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12864" y="4700015"/>
            <a:ext cx="3968496" cy="27432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12864" y="4700015"/>
            <a:ext cx="3760546" cy="274320"/>
          </a:xfrm>
          <a:prstGeom prst="rect">
            <a:avLst/>
          </a:prstGeom>
          <a:solidFill>
            <a:srgbClr val="D27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17352" y="4672583"/>
            <a:ext cx="932688" cy="329184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1">
                <a:solidFill>
                  <a:srgbClr val="1F3864"/>
                </a:solidFill>
                <a:latin typeface="Times New Roman"/>
                <a:ea typeface="微软雅黑"/>
              </a:rPr>
              <a:t>94.76%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96128" y="5833872"/>
            <a:ext cx="5669280" cy="25603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300" b="1">
                <a:solidFill>
                  <a:srgbClr val="1F3864"/>
                </a:solidFill>
                <a:latin typeface="Times New Roman"/>
                <a:ea typeface="微软雅黑"/>
              </a:rPr>
              <a:t>据原文表 9 绘制；相对 ConvLSTM* 提升 5.17 个百分点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92608"/>
            <a:ext cx="10927080" cy="50292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1F3864"/>
                </a:solidFill>
                <a:latin typeface="Times New Roman"/>
                <a:ea typeface="微软雅黑"/>
              </a:rPr>
              <a:t>结论与展望  [约 42 s]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018520" cy="22860"/>
          </a:xfrm>
          <a:prstGeom prst="rect">
            <a:avLst/>
          </a:prstGeom>
          <a:solidFill>
            <a:srgbClr val="436A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6547104"/>
            <a:ext cx="9144000" cy="182880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000" b="0">
                <a:solidFill>
                  <a:srgbClr val="5F6977"/>
                </a:solidFill>
                <a:latin typeface="Times New Roman"/>
                <a:ea typeface="微软雅黑"/>
              </a:rPr>
              <a:t>李文杰等（2026）  |  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10528"/>
            <a:ext cx="411480" cy="210312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1">
                <a:solidFill>
                  <a:srgbClr val="1F3864"/>
                </a:solidFill>
                <a:latin typeface="Times New Roman"/>
                <a:ea typeface="微软雅黑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61320" cy="7223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333333"/>
                </a:solidFill>
                <a:latin typeface="Times New Roman"/>
                <a:ea typeface="微软雅黑"/>
              </a:rPr>
              <a:t>•  驾驶风格影响换道意图预测准确率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10561320" cy="7223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333333"/>
                </a:solidFill>
                <a:latin typeface="Times New Roman"/>
                <a:ea typeface="微软雅黑"/>
              </a:rPr>
              <a:t>•  保守型 96.07%，激进型 92.81%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62656"/>
            <a:ext cx="10561320" cy="7223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333333"/>
                </a:solidFill>
                <a:latin typeface="Times New Roman"/>
                <a:ea typeface="微软雅黑"/>
              </a:rPr>
              <a:t>•  风格划分后整体准确率提升 5.17 个百分点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58183"/>
            <a:ext cx="10561320" cy="7223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333333"/>
                </a:solidFill>
                <a:latin typeface="Times New Roman"/>
                <a:ea typeface="微软雅黑"/>
              </a:rPr>
              <a:t>•  局限：部分混淆矩阵误分类率较高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53712"/>
            <a:ext cx="10561320" cy="722376"/>
          </a:xfrm>
          <a:prstGeom prst="rect">
            <a:avLst/>
          </a:prstGeom>
          <a:noFill/>
        </p:spPr>
        <p:txBody>
          <a:bodyPr wrap="square" lIns="73152" rIns="73152" tIns="27432" bIns="27432">
            <a:spAutoFit/>
          </a:bodyPr>
          <a:lstStyle/>
          <a:p>
            <a:pPr>
              <a:spcAft>
                <a:spcPts val="500"/>
              </a:spcAft>
            </a:pPr>
            <a:r>
              <a:rPr sz="1900" b="0">
                <a:solidFill>
                  <a:srgbClr val="333333"/>
                </a:solidFill>
                <a:latin typeface="Times New Roman"/>
                <a:ea typeface="微软雅黑"/>
              </a:rPr>
              <a:t>•  后续扩大样本并平衡轨迹信息数量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