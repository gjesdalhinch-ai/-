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准确率 / %</c:v>
                </c:pt>
              </c:strCache>
            </c:strRef>
          </c:tx>
          <c:dPt>
            <c:idx val="0"/>
            <c:spPr>
              <a:solidFill>
                <a:srgbClr val="4472C4"/>
              </a:solidFill>
              <a:ln>
                <a:noFill/>
              </a:ln>
            </c:spPr>
          </c:dPt>
          <c:dPt>
            <c:idx val="1"/>
            <c:spPr>
              <a:solidFill>
                <a:srgbClr val="147D92"/>
              </a:solidFill>
              <a:ln>
                <a:noFill/>
              </a:ln>
            </c:spPr>
          </c:dPt>
          <c:dPt>
            <c:idx val="2"/>
            <c:spPr>
              <a:solidFill>
                <a:srgbClr val="D87835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保守型</c:v>
                </c:pt>
                <c:pt idx="1">
                  <c:v>一般型</c:v>
                </c:pt>
                <c:pt idx="2">
                  <c:v>激进型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96.07</c:v>
                </c:pt>
                <c:pt idx="1">
                  <c:v>94.67</c:v>
                </c:pt>
                <c:pt idx="2">
                  <c:v>92.81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准确率 / %</c:v>
                </c:pt>
              </c:strCache>
            </c:strRef>
          </c:tx>
          <c:dPt>
            <c:idx val="0"/>
            <c:spPr>
              <a:solidFill>
                <a:srgbClr val="9CB2D6"/>
              </a:solidFill>
              <a:ln>
                <a:noFill/>
              </a:ln>
            </c:spPr>
          </c:dPt>
          <c:dPt>
            <c:idx val="1"/>
            <c:spPr>
              <a:solidFill>
                <a:srgbClr val="9CB2D6"/>
              </a:solidFill>
              <a:ln>
                <a:noFill/>
              </a:ln>
            </c:spPr>
          </c:dPt>
          <c:dPt>
            <c:idx val="2"/>
            <c:spPr>
              <a:solidFill>
                <a:srgbClr val="4472C4"/>
              </a:solidFill>
              <a:ln>
                <a:noFill/>
              </a:ln>
            </c:spPr>
          </c:dPt>
          <c:dPt>
            <c:idx val="3"/>
            <c:spPr>
              <a:solidFill>
                <a:srgbClr val="147D92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CNN*</c:v>
                </c:pt>
                <c:pt idx="1">
                  <c:v>LSTM*</c:v>
                </c:pt>
                <c:pt idx="2">
                  <c:v>ConvLSTM*</c:v>
                </c:pt>
                <c:pt idx="3">
                  <c:v>风格ConvLSTM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87.27</c:v>
                </c:pt>
                <c:pt idx="1">
                  <c:v>85.53</c:v>
                </c:pt>
                <c:pt idx="2">
                  <c:v>89.59</c:v>
                </c:pt>
                <c:pt idx="3">
                  <c:v>94.76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建议45秒。介绍文献来源与主线。本报告重点是驾驶风格如何进入预测流程，以及实验结论的适用边界。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建议50秒。换道意图可以视作三分类问题。相似的速度或位置状态未必代表相同的行为倾向，本文据此引入驾驶风格。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建议55秒。先概括传统机器学习和深度学习，不展开逐篇文献。论文认为轨迹背后的驾驶行为差异需要进入预测流程。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建议60秒。说明道路、时长、降噪和筛选，样本合计1451条。论文提取换道前5秒和后3秒的轨迹；这并不自动说明模型拥有5秒预测提前量。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建议65秒。沿流程解释风格处理与预测网络的衔接。该图为依据论文重绘的逻辑流程，不添加原文未报告的在线风格识别或实时部署模块。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建议70秒。区分主成分分析与最终聚类特征：原文依据载荷解释，选取三个原始统计指标，而不能简单说模型直接使用三个主成分得分。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建议60秒。介绍三类数量和特征趋势。k是预设为3，不是由实验搜索出的最优类别数。驾驶风格来自轨迹统计特征，应留意其与真实驾驶员长期风格的差别。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建议60秒。用三个门的信息流解释，不逐项推导公式。卷积作用于输入与隐藏状态，保留LSTM对时间序列的记忆能力。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建议60秒。第一层接收轨迹，第二层接收第一层输出，全连接与Softmax给出左换道、保持、右换道概率。说明主要训练参数，避免把未报告的张量维度或卷积核尺寸补写为论文设定。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建议60秒。准确率反映整体表现，精确率和召回率帮助看少数类别。重点关注ConvLSTM有无驾驶风格分组的对照；论文没有充分交代车辆隔离划分与跨道路泛化。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建议75秒。三种准确率均超过92%，且随风格激进程度下降。结合表8右换道精确率较低说明整体准确率不能代表每类都同样可靠。混淆矩阵纵轴为真实类别，横轴为预测类别。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建议70秒。四个模型数值依次为87.27%、85.53%、89.59%、94.76%。5.17是两个准确率的差，因此用百分点；不是相对提升5.17%。同网络对照支持该数据集上的流程收益，但仍需考虑划分方式与公平对照细节。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建议55秒。创新点不只是使用ConvLSTM，而是把风格分组接入预测流程并开展对照。将结论限定在本文数据和实验范围内。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75秒。论文的实验证据来自历史轨迹，尚未证明网联实时部署能力。样本规模和类别分布是作者承认的边界；提前量、跨场景泛化、车辆隔离划分是汇报者提出的待验证问题。多车切入与扰动传播属于进一步研究方向，不是论文已经验证的交通流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257175"/>
            <a:ext cx="10668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275" b="1">
                <a:solidFill>
                  <a:srgbClr val="4472C4"/>
                </a:solidFill>
                <a:latin typeface="Noto Sans CJK SC"/>
              </a:defRPr>
            </a:pPr>
            <a:r>
              <a:t>文献汇报 · 组会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647700"/>
            <a:ext cx="111442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700" b="1">
                <a:solidFill>
                  <a:srgbClr val="18365D"/>
                </a:solidFill>
                <a:latin typeface="Noto Sans CJK SC"/>
              </a:defRPr>
            </a:pPr>
            <a:r>
              <a:t>考虑驾驶风格的网联自主车辆换道意图预测方法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1409700"/>
            <a:ext cx="11144250" cy="55245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533525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1">
                <a:solidFill>
                  <a:srgbClr val="147D92"/>
                </a:solidFill>
                <a:latin typeface="Noto Sans CJK SC"/>
              </a:defRPr>
            </a:pPr>
            <a:r>
              <a:t>主线：为什么考虑风格 → 如何识别 → 如何预测 → 实验证据 → 方法边界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353175"/>
            <a:ext cx="11153775" cy="0"/>
          </a:xfrm>
          <a:prstGeom prst="line">
            <a:avLst/>
          </a:prstGeom>
          <a:ln w="25400">
            <a:solidFill>
              <a:srgbClr val="D8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486525"/>
            <a:ext cx="10382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125" b="0">
                <a:solidFill>
                  <a:srgbClr val="627286"/>
                </a:solidFill>
                <a:latin typeface="Noto Sans CJK SC"/>
              </a:defRPr>
            </a:pPr>
            <a:r>
              <a:t>论文：李文杰等，2026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0" y="6448425"/>
            <a:ext cx="904875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350" b="0">
                <a:solidFill>
                  <a:srgbClr val="4472C4"/>
                </a:solidFill>
                <a:latin typeface="Noto Sans CJK SC"/>
              </a:defRPr>
            </a:pPr>
            <a:r>
              <a:t>01 /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4350" y="2276475"/>
            <a:ext cx="11144250" cy="2447925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625" y="2571750"/>
            <a:ext cx="10382250" cy="1352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3300" b="1">
                <a:solidFill>
                  <a:srgbClr val="FFFFFF"/>
                </a:solidFill>
                <a:latin typeface="Noto Sans CJK SC"/>
              </a:defRPr>
            </a:pPr>
            <a:r>
              <a:t>从轨迹差异到驾驶风格</a:t>
            </a:r>
          </a:p>
          <a:p>
            <a:pPr algn="l">
              <a:lnSpc>
                <a:spcPct val="116000"/>
              </a:lnSpc>
              <a:spcAft>
                <a:spcPts val="0"/>
              </a:spcAft>
              <a:defRPr sz="3300" b="1">
                <a:solidFill>
                  <a:srgbClr val="FFFFFF"/>
                </a:solidFill>
                <a:latin typeface="Noto Sans CJK SC"/>
              </a:defRPr>
            </a:pPr>
            <a:r>
              <a:t>再到三类换道意图预测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" y="4953000"/>
            <a:ext cx="10763250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025" b="0">
                <a:solidFill>
                  <a:srgbClr val="25364A"/>
                </a:solidFill>
                <a:latin typeface="Noto Sans CJK SC"/>
              </a:defRPr>
            </a:pPr>
            <a:r>
              <a:t>李文杰、曲大义、崔善柠、张智、韦良帅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925" y="5410200"/>
            <a:ext cx="1076325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725" b="0">
                <a:solidFill>
                  <a:srgbClr val="627286"/>
                </a:solidFill>
                <a:latin typeface="Noto Sans CJK SC"/>
              </a:defRPr>
            </a:pPr>
            <a:r>
              <a:t>山东理工大学学报（自然科学版）｜2026，40(2)：36—42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925" y="5857875"/>
            <a:ext cx="10668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650" b="0">
                <a:solidFill>
                  <a:srgbClr val="627286"/>
                </a:solidFill>
                <a:latin typeface="Noto Sans CJK SC"/>
              </a:defRPr>
            </a:pPr>
            <a:r>
              <a:t>汇报人：________    单位：________    日期：________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257175"/>
            <a:ext cx="10668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275" b="1">
                <a:solidFill>
                  <a:srgbClr val="4472C4"/>
                </a:solidFill>
                <a:latin typeface="Noto Sans CJK SC"/>
              </a:defRPr>
            </a:pPr>
            <a:r>
              <a:t>01 · 问题背景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647700"/>
            <a:ext cx="111442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700" b="1">
                <a:solidFill>
                  <a:srgbClr val="18365D"/>
                </a:solidFill>
                <a:latin typeface="Noto Sans CJK SC"/>
              </a:defRPr>
            </a:pPr>
            <a:r>
              <a:t>研究背景与问题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1409700"/>
            <a:ext cx="11144250" cy="55245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533525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1">
                <a:solidFill>
                  <a:srgbClr val="147D92"/>
                </a:solidFill>
                <a:latin typeface="Noto Sans CJK SC"/>
              </a:defRPr>
            </a:pPr>
            <a:r>
              <a:t>核心问题：相似的运动状态，是否需要结合驾驶风格理解其意图？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353175"/>
            <a:ext cx="11153775" cy="0"/>
          </a:xfrm>
          <a:prstGeom prst="line">
            <a:avLst/>
          </a:prstGeom>
          <a:ln w="25400">
            <a:solidFill>
              <a:srgbClr val="D8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486525"/>
            <a:ext cx="10382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125" b="0">
                <a:solidFill>
                  <a:srgbClr val="627286"/>
                </a:solidFill>
                <a:latin typeface="Noto Sans CJK SC"/>
              </a:defRPr>
            </a:pPr>
            <a:r>
              <a:t>论文：李文杰等，2026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0" y="6448425"/>
            <a:ext cx="904875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350" b="0">
                <a:solidFill>
                  <a:srgbClr val="4472C4"/>
                </a:solidFill>
                <a:latin typeface="Noto Sans CJK SC"/>
              </a:defRPr>
            </a:pPr>
            <a:r>
              <a:t>02 /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4350" y="2381250"/>
            <a:ext cx="3571875" cy="1857375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4350" y="2381250"/>
            <a:ext cx="47625" cy="185737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900" y="2562225"/>
            <a:ext cx="3152775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4472C4"/>
                </a:solidFill>
                <a:latin typeface="Noto Sans CJK SC"/>
              </a:defRPr>
            </a:pPr>
            <a:r>
              <a:t>左换道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3000375"/>
            <a:ext cx="3152775" cy="1171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驶入左侧相邻车道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6725" y="2381250"/>
            <a:ext cx="3571875" cy="1857375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6725" y="2381250"/>
            <a:ext cx="47625" cy="1857375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6275" y="2562225"/>
            <a:ext cx="3152775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147D92"/>
                </a:solidFill>
                <a:latin typeface="Noto Sans CJK SC"/>
              </a:defRPr>
            </a:pPr>
            <a:r>
              <a:t>车道保持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275" y="3000375"/>
            <a:ext cx="3152775" cy="1171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继续沿当前车道行驶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9099" y="2381250"/>
            <a:ext cx="3571875" cy="1857375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39099" y="2381250"/>
            <a:ext cx="47625" cy="1857375"/>
          </a:xfrm>
          <a:prstGeom prst="rect">
            <a:avLst/>
          </a:prstGeom>
          <a:solidFill>
            <a:srgbClr val="D87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8650" y="2562225"/>
            <a:ext cx="3152775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D87835"/>
                </a:solidFill>
                <a:latin typeface="Noto Sans CJK SC"/>
              </a:defRPr>
            </a:pPr>
            <a:r>
              <a:t>右换道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8650" y="3000375"/>
            <a:ext cx="3152775" cy="1171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驶入右侧相邻车道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925" y="4638675"/>
            <a:ext cx="51435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250" b="1">
                <a:solidFill>
                  <a:srgbClr val="18365D"/>
                </a:solidFill>
                <a:latin typeface="Noto Sans CJK SC"/>
              </a:defRPr>
            </a:pPr>
            <a:r>
              <a:t>三类意图识别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925" y="5172075"/>
            <a:ext cx="109537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75" b="0">
                <a:solidFill>
                  <a:srgbClr val="25364A"/>
                </a:solidFill>
                <a:latin typeface="Noto Sans CJK SC"/>
              </a:defRPr>
            </a:pPr>
            <a:r>
              <a:t>为车辆决策与轨迹规划提供参考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257175"/>
            <a:ext cx="10668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275" b="1">
                <a:solidFill>
                  <a:srgbClr val="4472C4"/>
                </a:solidFill>
                <a:latin typeface="Noto Sans CJK SC"/>
              </a:defRPr>
            </a:pPr>
            <a:r>
              <a:t>01 · 问题背景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647700"/>
            <a:ext cx="111442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700" b="1">
                <a:solidFill>
                  <a:srgbClr val="18365D"/>
                </a:solidFill>
                <a:latin typeface="Noto Sans CJK SC"/>
              </a:defRPr>
            </a:pPr>
            <a:r>
              <a:t>现有研究与本文思路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1409700"/>
            <a:ext cx="11144250" cy="55245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533525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1">
                <a:solidFill>
                  <a:srgbClr val="147D92"/>
                </a:solidFill>
                <a:latin typeface="Noto Sans CJK SC"/>
              </a:defRPr>
            </a:pPr>
            <a:r>
              <a:t>本文把“先划分风格，再预测意图”作为关键流程变化。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353175"/>
            <a:ext cx="11153775" cy="0"/>
          </a:xfrm>
          <a:prstGeom prst="line">
            <a:avLst/>
          </a:prstGeom>
          <a:ln w="25400">
            <a:solidFill>
              <a:srgbClr val="D8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486525"/>
            <a:ext cx="10382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125" b="0">
                <a:solidFill>
                  <a:srgbClr val="627286"/>
                </a:solidFill>
                <a:latin typeface="Noto Sans CJK SC"/>
              </a:defRPr>
            </a:pPr>
            <a:r>
              <a:t>论文：李文杰等，2026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0" y="6448425"/>
            <a:ext cx="904875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350" b="0">
                <a:solidFill>
                  <a:srgbClr val="4472C4"/>
                </a:solidFill>
                <a:latin typeface="Noto Sans CJK SC"/>
              </a:defRPr>
            </a:pPr>
            <a:r>
              <a:t>03 /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4350" y="2295525"/>
            <a:ext cx="5334000" cy="1495425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4350" y="2295525"/>
            <a:ext cx="47625" cy="149542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900" y="2476500"/>
            <a:ext cx="49149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4472C4"/>
                </a:solidFill>
                <a:latin typeface="Noto Sans CJK SC"/>
              </a:defRPr>
            </a:pPr>
            <a:r>
              <a:t>传统机器学习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2914650"/>
            <a:ext cx="4914900" cy="809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SVM、HMM等</a:t>
            </a: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从观测特征推断行为类别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5525" y="2295525"/>
            <a:ext cx="5553075" cy="1495425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5525" y="2295525"/>
            <a:ext cx="47625" cy="1495425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5075" y="2476500"/>
            <a:ext cx="5133975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147D92"/>
                </a:solidFill>
                <a:latin typeface="Noto Sans CJK SC"/>
              </a:defRPr>
            </a:pPr>
            <a:r>
              <a:t>深度学习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5075" y="2914650"/>
            <a:ext cx="5133975" cy="809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LSTM、CNN等</a:t>
            </a: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学习轨迹及环境信息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4350" y="4276725"/>
            <a:ext cx="3333750" cy="1400175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350" y="4276725"/>
            <a:ext cx="47625" cy="140017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900" y="4457700"/>
            <a:ext cx="29146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4472C4"/>
                </a:solidFill>
                <a:latin typeface="Noto Sans CJK SC"/>
              </a:defRPr>
            </a:pPr>
            <a:r>
              <a:t>轨迹数据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4895850"/>
            <a:ext cx="291465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运动状态与统计特征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3824" y="4705350"/>
            <a:ext cx="381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625" b="0">
                <a:solidFill>
                  <a:srgbClr val="4472C4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19600" y="4276725"/>
            <a:ext cx="3333750" cy="1400175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19600" y="4276725"/>
            <a:ext cx="47625" cy="140017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9150" y="4457700"/>
            <a:ext cx="29146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4472C4"/>
                </a:solidFill>
                <a:latin typeface="Noto Sans CJK SC"/>
              </a:defRPr>
            </a:pPr>
            <a:r>
              <a:t>风格分类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9150" y="4895850"/>
            <a:ext cx="291465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保守／一般／激进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9074" y="4705350"/>
            <a:ext cx="381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625" b="0">
                <a:solidFill>
                  <a:srgbClr val="4472C4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4849" y="4276725"/>
            <a:ext cx="3333750" cy="1400175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4849" y="4276725"/>
            <a:ext cx="47625" cy="140017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34400" y="4457700"/>
            <a:ext cx="29146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4472C4"/>
                </a:solidFill>
                <a:latin typeface="Noto Sans CJK SC"/>
              </a:defRPr>
            </a:pPr>
            <a:r>
              <a:t>意图预测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34400" y="4895850"/>
            <a:ext cx="291465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左换道／保持／右换道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257175"/>
            <a:ext cx="10668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275" b="1">
                <a:solidFill>
                  <a:srgbClr val="4472C4"/>
                </a:solidFill>
                <a:latin typeface="Noto Sans CJK SC"/>
              </a:defRPr>
            </a:pPr>
            <a:r>
              <a:t>02 · 数据与驾驶风格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647700"/>
            <a:ext cx="111442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700" b="1">
                <a:solidFill>
                  <a:srgbClr val="18365D"/>
                </a:solidFill>
                <a:latin typeface="Noto Sans CJK SC"/>
              </a:defRPr>
            </a:pPr>
            <a:r>
              <a:t>数据来源与预处理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1409700"/>
            <a:ext cx="11144250" cy="55245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533525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1">
                <a:solidFill>
                  <a:srgbClr val="147D92"/>
                </a:solidFill>
                <a:latin typeface="Noto Sans CJK SC"/>
              </a:defRPr>
            </a:pPr>
            <a:r>
              <a:t>从NGSIM历史轨迹中，筛选出852条换道与599条车道保持轨迹。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353175"/>
            <a:ext cx="11153775" cy="0"/>
          </a:xfrm>
          <a:prstGeom prst="line">
            <a:avLst/>
          </a:prstGeom>
          <a:ln w="25400">
            <a:solidFill>
              <a:srgbClr val="D8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486525"/>
            <a:ext cx="10382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125" b="0">
                <a:solidFill>
                  <a:srgbClr val="627286"/>
                </a:solidFill>
                <a:latin typeface="Noto Sans CJK SC"/>
              </a:defRPr>
            </a:pPr>
            <a:r>
              <a:t>来源：论文第1节；右图为论文图1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0" y="6448425"/>
            <a:ext cx="904875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350" b="0">
                <a:solidFill>
                  <a:srgbClr val="4472C4"/>
                </a:solidFill>
                <a:latin typeface="Noto Sans CJK SC"/>
              </a:defRPr>
            </a:pPr>
            <a:r>
              <a:t>04 /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4350" y="2257425"/>
            <a:ext cx="4762500" cy="1285875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4350" y="2257425"/>
            <a:ext cx="47625" cy="128587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900" y="2438400"/>
            <a:ext cx="43434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4472C4"/>
                </a:solidFill>
                <a:latin typeface="Noto Sans CJK SC"/>
              </a:defRPr>
            </a:pPr>
            <a:r>
              <a:t>数据来源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2876550"/>
            <a:ext cx="4343400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US-101 + I-80</a:t>
            </a: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累计90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4350" y="3705224"/>
            <a:ext cx="4762500" cy="1666875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4350" y="3705224"/>
            <a:ext cx="47625" cy="1666875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900" y="3886200"/>
            <a:ext cx="43434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147D92"/>
                </a:solidFill>
                <a:latin typeface="Noto Sans CJK SC"/>
              </a:defRPr>
            </a:pPr>
            <a:r>
              <a:t>处理与筛选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4324350"/>
            <a:ext cx="4343400" cy="981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小波分解降噪；仅保留小汽车</a:t>
            </a: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剔除停车、瞬时速度异常等轨迹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925" y="5610225"/>
            <a:ext cx="5619750" cy="390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725" b="0">
                <a:solidFill>
                  <a:srgbClr val="627286"/>
                </a:solidFill>
                <a:latin typeface="Noto Sans CJK SC"/>
              </a:defRPr>
            </a:pPr>
            <a:r>
              <a:t>换道样本：换道前5 s + 换道后3 s</a:t>
            </a:r>
          </a:p>
        </p:txBody>
      </p:sp>
      <p:pic>
        <p:nvPicPr>
          <p:cNvPr id="20" name="Picture 19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563" y="2343150"/>
            <a:ext cx="4808823" cy="3276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29300" y="5781675"/>
            <a:ext cx="54673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275" b="0">
                <a:solidFill>
                  <a:srgbClr val="627286"/>
                </a:solidFill>
                <a:latin typeface="Noto Sans CJK SC"/>
              </a:defRPr>
            </a:pPr>
            <a:r>
              <a:t>论文图1：滤波处理对比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257175"/>
            <a:ext cx="10668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275" b="1">
                <a:solidFill>
                  <a:srgbClr val="4472C4"/>
                </a:solidFill>
                <a:latin typeface="Noto Sans CJK SC"/>
              </a:defRPr>
            </a:pPr>
            <a:r>
              <a:t>03 · 方法框架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647700"/>
            <a:ext cx="111442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700" b="1">
                <a:solidFill>
                  <a:srgbClr val="18365D"/>
                </a:solidFill>
                <a:latin typeface="Noto Sans CJK SC"/>
              </a:defRPr>
            </a:pPr>
            <a:r>
              <a:t>方法总体框架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1409700"/>
            <a:ext cx="11144250" cy="55245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533525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1">
                <a:solidFill>
                  <a:srgbClr val="147D92"/>
                </a:solidFill>
                <a:latin typeface="Noto Sans CJK SC"/>
              </a:defRPr>
            </a:pPr>
            <a:r>
              <a:t>驾驶风格类别先划分样本，再组织ConvLSTM的学习与验证。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353175"/>
            <a:ext cx="11153775" cy="0"/>
          </a:xfrm>
          <a:prstGeom prst="line">
            <a:avLst/>
          </a:prstGeom>
          <a:ln w="25400">
            <a:solidFill>
              <a:srgbClr val="D8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486525"/>
            <a:ext cx="10382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125" b="0">
                <a:solidFill>
                  <a:srgbClr val="627286"/>
                </a:solidFill>
                <a:latin typeface="Noto Sans CJK SC"/>
              </a:defRPr>
            </a:pPr>
            <a:r>
              <a:t>论文：李文杰等，2026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0" y="6448425"/>
            <a:ext cx="904875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350" b="0">
                <a:solidFill>
                  <a:srgbClr val="4472C4"/>
                </a:solidFill>
                <a:latin typeface="Noto Sans CJK SC"/>
              </a:defRPr>
            </a:pPr>
            <a:r>
              <a:t>05 /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350" y="2238375"/>
            <a:ext cx="105727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18365D"/>
                </a:solidFill>
                <a:latin typeface="Noto Sans CJK SC"/>
              </a:defRPr>
            </a:pPr>
            <a:r>
              <a:t>训练与验证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4350" y="2771775"/>
            <a:ext cx="3333750" cy="131445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4350" y="2771775"/>
            <a:ext cx="47625" cy="13144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2952750"/>
            <a:ext cx="29146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4472C4"/>
                </a:solidFill>
                <a:latin typeface="Noto Sans CJK SC"/>
              </a:defRPr>
            </a:pPr>
            <a:r>
              <a:t>轨迹筛选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3390900"/>
            <a:ext cx="2914650" cy="62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NGSIM → 有效轨迹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43350" y="3219450"/>
            <a:ext cx="381000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550" b="0">
                <a:solidFill>
                  <a:srgbClr val="4472C4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19600" y="2771775"/>
            <a:ext cx="3333750" cy="131445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19600" y="2771775"/>
            <a:ext cx="47625" cy="13144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9150" y="2952750"/>
            <a:ext cx="29146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4472C4"/>
                </a:solidFill>
                <a:latin typeface="Noto Sans CJK SC"/>
              </a:defRPr>
            </a:pPr>
            <a:r>
              <a:t>特征分析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9150" y="3390900"/>
            <a:ext cx="2914650" cy="62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6项统计指标 → PCA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8600" y="3219450"/>
            <a:ext cx="381000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550" b="0">
                <a:solidFill>
                  <a:srgbClr val="4472C4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4849" y="2771775"/>
            <a:ext cx="3333750" cy="131445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4849" y="2771775"/>
            <a:ext cx="47625" cy="13144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34400" y="2952750"/>
            <a:ext cx="29146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4472C4"/>
                </a:solidFill>
                <a:latin typeface="Noto Sans CJK SC"/>
              </a:defRPr>
            </a:pPr>
            <a:r>
              <a:t>风格聚类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4400" y="3390900"/>
            <a:ext cx="2914650" cy="62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k-means，k =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4350" y="4505325"/>
            <a:ext cx="5305425" cy="1343025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4350" y="4505325"/>
            <a:ext cx="47625" cy="1343025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3900" y="4686300"/>
            <a:ext cx="4886325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147D92"/>
                </a:solidFill>
                <a:latin typeface="Noto Sans CJK SC"/>
              </a:defRPr>
            </a:pPr>
            <a:r>
              <a:t>各风格轨迹分组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900" y="5124450"/>
            <a:ext cx="4886325" cy="657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保守型／一般型／激进型</a:t>
            </a: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每组按8∶2划分训练与测试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53125" y="4933950"/>
            <a:ext cx="4762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550" b="0">
                <a:solidFill>
                  <a:srgbClr val="4472C4"/>
                </a:solidFill>
                <a:latin typeface="Noto Sans CJK SC"/>
              </a:defRPr>
            </a:pPr>
            <a: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0350" y="4505325"/>
            <a:ext cx="5048250" cy="1343025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10350" y="4505325"/>
            <a:ext cx="47625" cy="134302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9900" y="4686300"/>
            <a:ext cx="46291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4472C4"/>
                </a:solidFill>
                <a:latin typeface="Noto Sans CJK SC"/>
              </a:defRPr>
            </a:pPr>
            <a:r>
              <a:t>意图预测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9900" y="5124450"/>
            <a:ext cx="4629150" cy="657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两层ConvLSTM → 全连接 → Softmax</a:t>
            </a: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输出三类意图概率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257175"/>
            <a:ext cx="10668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275" b="1">
                <a:solidFill>
                  <a:srgbClr val="4472C4"/>
                </a:solidFill>
                <a:latin typeface="Noto Sans CJK SC"/>
              </a:defRPr>
            </a:pPr>
            <a:r>
              <a:t>04 · 驾驶风格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647700"/>
            <a:ext cx="111442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700" b="1">
                <a:solidFill>
                  <a:srgbClr val="18365D"/>
                </a:solidFill>
                <a:latin typeface="Noto Sans CJK SC"/>
              </a:defRPr>
            </a:pPr>
            <a:r>
              <a:t>驾驶风格特征构建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1409700"/>
            <a:ext cx="11144250" cy="55245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533525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1">
                <a:solidFill>
                  <a:srgbClr val="147D92"/>
                </a:solidFill>
                <a:latin typeface="Noto Sans CJK SC"/>
              </a:defRPr>
            </a:pPr>
            <a:r>
              <a:t>PCA分析后，论文选用速度均值、速度标准差、加速度均值进行聚类。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353175"/>
            <a:ext cx="11153775" cy="0"/>
          </a:xfrm>
          <a:prstGeom prst="line">
            <a:avLst/>
          </a:prstGeom>
          <a:ln w="25400">
            <a:solidFill>
              <a:srgbClr val="D8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486525"/>
            <a:ext cx="10382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125" b="0">
                <a:solidFill>
                  <a:srgbClr val="627286"/>
                </a:solidFill>
                <a:latin typeface="Noto Sans CJK SC"/>
              </a:defRPr>
            </a:pPr>
            <a:r>
              <a:t>来源：论文表2—5；右图为论文图2，右表精简自论文表4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0" y="6448425"/>
            <a:ext cx="904875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350" b="0">
                <a:solidFill>
                  <a:srgbClr val="4472C4"/>
                </a:solidFill>
                <a:latin typeface="Noto Sans CJK SC"/>
              </a:defRPr>
            </a:pPr>
            <a:r>
              <a:t>06 /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4350" y="2276475"/>
            <a:ext cx="3857625" cy="2219325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4350" y="2276475"/>
            <a:ext cx="47625" cy="221932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900" y="2457450"/>
            <a:ext cx="3438525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4472C4"/>
                </a:solidFill>
                <a:latin typeface="Noto Sans CJK SC"/>
              </a:defRPr>
            </a:pPr>
            <a:r>
              <a:t>初始六项指标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2895600"/>
            <a:ext cx="3438525" cy="1533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速度：均值、标准差</a:t>
            </a: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加速度：均值、标准差</a:t>
            </a: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车头时距：均值、标准差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4714875"/>
            <a:ext cx="3714750" cy="809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00" b="1">
                <a:solidFill>
                  <a:srgbClr val="147D92"/>
                </a:solidFill>
                <a:latin typeface="Noto Sans CJK SC"/>
              </a:defRPr>
            </a:pPr>
            <a:r>
              <a:t>KMO = 0.624</a:t>
            </a:r>
          </a:p>
          <a:p>
            <a:pPr algn="l">
              <a:lnSpc>
                <a:spcPct val="116000"/>
              </a:lnSpc>
              <a:spcAft>
                <a:spcPts val="0"/>
              </a:spcAft>
              <a:defRPr sz="1800" b="1">
                <a:solidFill>
                  <a:srgbClr val="147D92"/>
                </a:solidFill>
                <a:latin typeface="Noto Sans CJK SC"/>
              </a:defRPr>
            </a:pPr>
            <a:r>
              <a:t>巴特利特检验显著（p &lt; 0.05）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95825" y="2247900"/>
            <a:ext cx="6962775" cy="409575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1075" y="2343150"/>
            <a:ext cx="2130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575" b="1">
                <a:solidFill>
                  <a:srgbClr val="FFFFFF"/>
                </a:solidFill>
                <a:latin typeface="Noto Sans CJK SC"/>
              </a:defRPr>
            </a:pPr>
            <a:r>
              <a:t>主成分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2000" y="2343150"/>
            <a:ext cx="2130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575" b="1">
                <a:solidFill>
                  <a:srgbClr val="FFFFFF"/>
                </a:solidFill>
                <a:latin typeface="Noto Sans CJK SC"/>
              </a:defRPr>
            </a:pPr>
            <a:r>
              <a:t>特征值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32925" y="2343150"/>
            <a:ext cx="2130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575" b="1">
                <a:solidFill>
                  <a:srgbClr val="FFFFFF"/>
                </a:solidFill>
                <a:latin typeface="Noto Sans CJK SC"/>
              </a:defRPr>
            </a:pPr>
            <a:r>
              <a:t>累计贡献率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95825" y="2657475"/>
            <a:ext cx="6962775" cy="409575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91075" y="2752725"/>
            <a:ext cx="2130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575" b="0">
                <a:solidFill>
                  <a:srgbClr val="25364A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2000" y="2752725"/>
            <a:ext cx="2130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575" b="0">
                <a:solidFill>
                  <a:srgbClr val="25364A"/>
                </a:solidFill>
                <a:latin typeface="Noto Sans CJK SC"/>
              </a:defRPr>
            </a:pPr>
            <a:r>
              <a:t>2.093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2925" y="2752725"/>
            <a:ext cx="2130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575" b="0">
                <a:solidFill>
                  <a:srgbClr val="25364A"/>
                </a:solidFill>
                <a:latin typeface="Noto Sans CJK SC"/>
              </a:defRPr>
            </a:pPr>
            <a:r>
              <a:t>34.857%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95825" y="3067050"/>
            <a:ext cx="6962775" cy="409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91075" y="3162300"/>
            <a:ext cx="2130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575" b="0">
                <a:solidFill>
                  <a:srgbClr val="25364A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2000" y="3162300"/>
            <a:ext cx="2130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575" b="0">
                <a:solidFill>
                  <a:srgbClr val="25364A"/>
                </a:solidFill>
                <a:latin typeface="Noto Sans CJK SC"/>
              </a:defRPr>
            </a:pPr>
            <a:r>
              <a:t>1.688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2925" y="3162300"/>
            <a:ext cx="2130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575" b="0">
                <a:solidFill>
                  <a:srgbClr val="25364A"/>
                </a:solidFill>
                <a:latin typeface="Noto Sans CJK SC"/>
              </a:defRPr>
            </a:pPr>
            <a:r>
              <a:t>62.971%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95825" y="3476625"/>
            <a:ext cx="6962775" cy="409575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1075" y="3571875"/>
            <a:ext cx="2130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575" b="0">
                <a:solidFill>
                  <a:srgbClr val="25364A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2000" y="3571875"/>
            <a:ext cx="2130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575" b="0">
                <a:solidFill>
                  <a:srgbClr val="25364A"/>
                </a:solidFill>
                <a:latin typeface="Noto Sans CJK SC"/>
              </a:defRPr>
            </a:pPr>
            <a:r>
              <a:t>1.156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32925" y="3571875"/>
            <a:ext cx="2130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575" b="0">
                <a:solidFill>
                  <a:srgbClr val="25364A"/>
                </a:solidFill>
                <a:latin typeface="Noto Sans CJK SC"/>
              </a:defRPr>
            </a:pPr>
            <a:r>
              <a:t>82.222%</a:t>
            </a:r>
          </a:p>
        </p:txBody>
      </p:sp>
      <p:pic>
        <p:nvPicPr>
          <p:cNvPr id="32" name="Picture 31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411" y="4076699"/>
            <a:ext cx="3909126" cy="17240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695825" y="5905500"/>
            <a:ext cx="6962775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275" b="0">
                <a:solidFill>
                  <a:srgbClr val="627286"/>
                </a:solidFill>
                <a:latin typeface="Noto Sans CJK SC"/>
              </a:defRPr>
            </a:pPr>
            <a:r>
              <a:t>论文图2：主成分热力图；表4（精简）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257175"/>
            <a:ext cx="10668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275" b="1">
                <a:solidFill>
                  <a:srgbClr val="4472C4"/>
                </a:solidFill>
                <a:latin typeface="Noto Sans CJK SC"/>
              </a:defRPr>
            </a:pPr>
            <a:r>
              <a:t>04 · 驾驶风格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647700"/>
            <a:ext cx="111442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700" b="1">
                <a:solidFill>
                  <a:srgbClr val="18365D"/>
                </a:solidFill>
                <a:latin typeface="Noto Sans CJK SC"/>
              </a:defRPr>
            </a:pPr>
            <a:r>
              <a:t>k-means驾驶风格分类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1409700"/>
            <a:ext cx="11144250" cy="55245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533525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1">
                <a:solidFill>
                  <a:srgbClr val="147D92"/>
                </a:solidFill>
                <a:latin typeface="Noto Sans CJK SC"/>
              </a:defRPr>
            </a:pPr>
            <a:r>
              <a:t>预设k = 3；三类风格的速度均值、速度波动和平均加速度依次增大。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353175"/>
            <a:ext cx="11153775" cy="0"/>
          </a:xfrm>
          <a:prstGeom prst="line">
            <a:avLst/>
          </a:prstGeom>
          <a:ln w="25400">
            <a:solidFill>
              <a:srgbClr val="D8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486525"/>
            <a:ext cx="10382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125" b="0">
                <a:solidFill>
                  <a:srgbClr val="627286"/>
                </a:solidFill>
                <a:latin typeface="Noto Sans CJK SC"/>
              </a:defRPr>
            </a:pPr>
            <a:r>
              <a:t>来源：论文图3、表6（精简）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0" y="6448425"/>
            <a:ext cx="904875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350" b="0">
                <a:solidFill>
                  <a:srgbClr val="4472C4"/>
                </a:solidFill>
                <a:latin typeface="Noto Sans CJK SC"/>
              </a:defRPr>
            </a:pPr>
            <a:r>
              <a:t>07 / 14</a:t>
            </a:r>
          </a:p>
        </p:txBody>
      </p:sp>
      <p:pic>
        <p:nvPicPr>
          <p:cNvPr id="11" name="Picture 10" descr="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187" y="2266950"/>
            <a:ext cx="3299724" cy="34861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4350" y="5876925"/>
            <a:ext cx="51054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275" b="0">
                <a:solidFill>
                  <a:srgbClr val="627286"/>
                </a:solidFill>
                <a:latin typeface="Noto Sans CJK SC"/>
              </a:defRPr>
            </a:pPr>
            <a:r>
              <a:t>论文图3：驾驶风格聚类结果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72150" y="2486025"/>
            <a:ext cx="5886450" cy="533400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67400" y="2581275"/>
            <a:ext cx="2095499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425" b="1">
                <a:solidFill>
                  <a:srgbClr val="FFFFFF"/>
                </a:solidFill>
                <a:latin typeface="Noto Sans CJK SC"/>
              </a:defRPr>
            </a:pPr>
            <a:r>
              <a:t>指标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3399" y="2581275"/>
            <a:ext cx="100965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425" b="1">
                <a:solidFill>
                  <a:srgbClr val="FFFFFF"/>
                </a:solidFill>
                <a:latin typeface="Noto Sans CJK SC"/>
              </a:defRPr>
            </a:pPr>
            <a:r>
              <a:t>保守型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3550" y="2581275"/>
            <a:ext cx="100965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425" b="1">
                <a:solidFill>
                  <a:srgbClr val="FFFFFF"/>
                </a:solidFill>
                <a:latin typeface="Noto Sans CJK SC"/>
              </a:defRPr>
            </a:pPr>
            <a:r>
              <a:t>一般型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53700" y="2581275"/>
            <a:ext cx="100965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425" b="1">
                <a:solidFill>
                  <a:srgbClr val="FFFFFF"/>
                </a:solidFill>
                <a:latin typeface="Noto Sans CJK SC"/>
              </a:defRPr>
            </a:pPr>
            <a:r>
              <a:t>激进型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72150" y="3019425"/>
            <a:ext cx="5886450" cy="5334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67400" y="3114675"/>
            <a:ext cx="2095499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425" b="0">
                <a:solidFill>
                  <a:srgbClr val="25364A"/>
                </a:solidFill>
                <a:latin typeface="Noto Sans CJK SC"/>
              </a:defRPr>
            </a:pPr>
            <a:r>
              <a:t>样本数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3399" y="3114675"/>
            <a:ext cx="100965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425" b="0">
                <a:solidFill>
                  <a:srgbClr val="25364A"/>
                </a:solidFill>
                <a:latin typeface="Noto Sans CJK SC"/>
              </a:defRPr>
            </a:pPr>
            <a:r>
              <a:t>535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3550" y="3114675"/>
            <a:ext cx="100965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425" b="0">
                <a:solidFill>
                  <a:srgbClr val="25364A"/>
                </a:solidFill>
                <a:latin typeface="Noto Sans CJK SC"/>
              </a:defRPr>
            </a:pPr>
            <a:r>
              <a:t>582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53700" y="3114675"/>
            <a:ext cx="100965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425" b="0">
                <a:solidFill>
                  <a:srgbClr val="25364A"/>
                </a:solidFill>
                <a:latin typeface="Noto Sans CJK SC"/>
              </a:defRPr>
            </a:pPr>
            <a:r>
              <a:t>334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2150" y="3552825"/>
            <a:ext cx="588645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67400" y="3648075"/>
            <a:ext cx="2095499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425" b="0">
                <a:solidFill>
                  <a:srgbClr val="25364A"/>
                </a:solidFill>
                <a:latin typeface="Noto Sans CJK SC"/>
              </a:defRPr>
            </a:pPr>
            <a:r>
              <a:t>速度均值 / m·s⁻¹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3399" y="3648075"/>
            <a:ext cx="100965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425" b="0">
                <a:solidFill>
                  <a:srgbClr val="25364A"/>
                </a:solidFill>
                <a:latin typeface="Noto Sans CJK SC"/>
              </a:defRPr>
            </a:pPr>
            <a:r>
              <a:t>25.289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3550" y="3648075"/>
            <a:ext cx="100965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425" b="0">
                <a:solidFill>
                  <a:srgbClr val="25364A"/>
                </a:solidFill>
                <a:latin typeface="Noto Sans CJK SC"/>
              </a:defRPr>
            </a:pPr>
            <a:r>
              <a:t>32.155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53700" y="3648075"/>
            <a:ext cx="100965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425" b="0">
                <a:solidFill>
                  <a:srgbClr val="25364A"/>
                </a:solidFill>
                <a:latin typeface="Noto Sans CJK SC"/>
              </a:defRPr>
            </a:pPr>
            <a:r>
              <a:t>37.091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72150" y="4086225"/>
            <a:ext cx="5886450" cy="5334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67400" y="4181475"/>
            <a:ext cx="2095499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425" b="0">
                <a:solidFill>
                  <a:srgbClr val="25364A"/>
                </a:solidFill>
                <a:latin typeface="Noto Sans CJK SC"/>
              </a:defRPr>
            </a:pPr>
            <a:r>
              <a:t>速度标准差 / m·s⁻¹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3399" y="4181475"/>
            <a:ext cx="100965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425" b="0">
                <a:solidFill>
                  <a:srgbClr val="25364A"/>
                </a:solidFill>
                <a:latin typeface="Noto Sans CJK SC"/>
              </a:defRPr>
            </a:pPr>
            <a:r>
              <a:t>2.891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3550" y="4181475"/>
            <a:ext cx="100965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425" b="0">
                <a:solidFill>
                  <a:srgbClr val="25364A"/>
                </a:solidFill>
                <a:latin typeface="Noto Sans CJK SC"/>
              </a:defRPr>
            </a:pPr>
            <a:r>
              <a:t>3.327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53700" y="4181475"/>
            <a:ext cx="100965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425" b="0">
                <a:solidFill>
                  <a:srgbClr val="25364A"/>
                </a:solidFill>
                <a:latin typeface="Noto Sans CJK SC"/>
              </a:defRPr>
            </a:pPr>
            <a:r>
              <a:t>4.353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72150" y="4619625"/>
            <a:ext cx="588645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67400" y="4714875"/>
            <a:ext cx="2095499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425" b="0">
                <a:solidFill>
                  <a:srgbClr val="25364A"/>
                </a:solidFill>
                <a:latin typeface="Noto Sans CJK SC"/>
              </a:defRPr>
            </a:pPr>
            <a:r>
              <a:t>加速度均值 / m·s⁻²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3399" y="4714875"/>
            <a:ext cx="100965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425" b="0">
                <a:solidFill>
                  <a:srgbClr val="25364A"/>
                </a:solidFill>
                <a:latin typeface="Noto Sans CJK SC"/>
              </a:defRPr>
            </a:pPr>
            <a:r>
              <a:t>0.113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53550" y="4714875"/>
            <a:ext cx="100965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425" b="0">
                <a:solidFill>
                  <a:srgbClr val="25364A"/>
                </a:solidFill>
                <a:latin typeface="Noto Sans CJK SC"/>
              </a:defRPr>
            </a:pPr>
            <a:r>
              <a:t>0.175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53700" y="4714875"/>
            <a:ext cx="100965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425" b="0">
                <a:solidFill>
                  <a:srgbClr val="25364A"/>
                </a:solidFill>
                <a:latin typeface="Noto Sans CJK SC"/>
              </a:defRPr>
            </a:pPr>
            <a:r>
              <a:t>0.372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24550" y="5581650"/>
            <a:ext cx="5505450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725" b="0">
                <a:solidFill>
                  <a:srgbClr val="627286"/>
                </a:solidFill>
                <a:latin typeface="Noto Sans CJK SC"/>
              </a:defRPr>
            </a:pPr>
            <a:r>
              <a:t>三类名称是对聚类结果的行为解释。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257175"/>
            <a:ext cx="10668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275" b="1">
                <a:solidFill>
                  <a:srgbClr val="4472C4"/>
                </a:solidFill>
                <a:latin typeface="Noto Sans CJK SC"/>
              </a:defRPr>
            </a:pPr>
            <a:r>
              <a:t>05 · 意图预测网络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647700"/>
            <a:ext cx="111442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700" b="1">
                <a:solidFill>
                  <a:srgbClr val="18365D"/>
                </a:solidFill>
                <a:latin typeface="Noto Sans CJK SC"/>
              </a:defRPr>
            </a:pPr>
            <a:r>
              <a:t>ConvLSTM为何用于意图预测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1409700"/>
            <a:ext cx="11144250" cy="55245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533525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1">
                <a:solidFill>
                  <a:srgbClr val="147D92"/>
                </a:solidFill>
                <a:latin typeface="Noto Sans CJK SC"/>
              </a:defRPr>
            </a:pPr>
            <a:r>
              <a:t>在LSTM门控中引入卷积，联合处理时间变化与空间特征。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353175"/>
            <a:ext cx="11153775" cy="0"/>
          </a:xfrm>
          <a:prstGeom prst="line">
            <a:avLst/>
          </a:prstGeom>
          <a:ln w="25400">
            <a:solidFill>
              <a:srgbClr val="D8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486525"/>
            <a:ext cx="10382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125" b="0">
                <a:solidFill>
                  <a:srgbClr val="627286"/>
                </a:solidFill>
                <a:latin typeface="Noto Sans CJK SC"/>
              </a:defRPr>
            </a:pPr>
            <a:r>
              <a:t>来源：论文第3.1节；左图为论文图4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0" y="6448425"/>
            <a:ext cx="904875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350" b="0">
                <a:solidFill>
                  <a:srgbClr val="4472C4"/>
                </a:solidFill>
                <a:latin typeface="Noto Sans CJK SC"/>
              </a:defRPr>
            </a:pPr>
            <a:r>
              <a:t>08 / 14</a:t>
            </a:r>
          </a:p>
        </p:txBody>
      </p:sp>
      <p:pic>
        <p:nvPicPr>
          <p:cNvPr id="11" name="Picture 10" descr="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953" y="2276475"/>
            <a:ext cx="4251267" cy="34385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5876925"/>
            <a:ext cx="6048375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275" b="0">
                <a:solidFill>
                  <a:srgbClr val="627286"/>
                </a:solidFill>
                <a:latin typeface="Noto Sans CJK SC"/>
              </a:defRPr>
            </a:pPr>
            <a:r>
              <a:t>论文图4：ConvLSTM单元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34200" y="2276475"/>
            <a:ext cx="4724400" cy="112395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34200" y="2276475"/>
            <a:ext cx="47625" cy="11239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3750" y="2457450"/>
            <a:ext cx="43053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4472C4"/>
                </a:solidFill>
                <a:latin typeface="Noto Sans CJK SC"/>
              </a:defRPr>
            </a:pPr>
            <a:r>
              <a:t>输入门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50" y="2895600"/>
            <a:ext cx="43053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控制新信息写入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34200" y="3552825"/>
            <a:ext cx="4724400" cy="112395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34200" y="3552825"/>
            <a:ext cx="47625" cy="1123950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43750" y="3733799"/>
            <a:ext cx="43053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147D92"/>
                </a:solidFill>
                <a:latin typeface="Noto Sans CJK SC"/>
              </a:defRPr>
            </a:pPr>
            <a:r>
              <a:t>遗忘门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3750" y="4171950"/>
            <a:ext cx="43053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控制历史信息保留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34200" y="4829175"/>
            <a:ext cx="4724400" cy="112395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34200" y="4829175"/>
            <a:ext cx="47625" cy="1123950"/>
          </a:xfrm>
          <a:prstGeom prst="rect">
            <a:avLst/>
          </a:prstGeom>
          <a:solidFill>
            <a:srgbClr val="D87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43750" y="5010150"/>
            <a:ext cx="43053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D87835"/>
                </a:solidFill>
                <a:latin typeface="Noto Sans CJK SC"/>
              </a:defRPr>
            </a:pPr>
            <a:r>
              <a:t>输出门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3750" y="5448300"/>
            <a:ext cx="430530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控制当前状态输出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257175"/>
            <a:ext cx="10668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275" b="1">
                <a:solidFill>
                  <a:srgbClr val="4472C4"/>
                </a:solidFill>
                <a:latin typeface="Noto Sans CJK SC"/>
              </a:defRPr>
            </a:pPr>
            <a:r>
              <a:t>05 · 意图预测网络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647700"/>
            <a:ext cx="111442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700" b="1">
                <a:solidFill>
                  <a:srgbClr val="18365D"/>
                </a:solidFill>
                <a:latin typeface="Noto Sans CJK SC"/>
              </a:defRPr>
            </a:pPr>
            <a:r>
              <a:t>换道意图预测模型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1409700"/>
            <a:ext cx="11144250" cy="55245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533525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1">
                <a:solidFill>
                  <a:srgbClr val="147D92"/>
                </a:solidFill>
                <a:latin typeface="Noto Sans CJK SC"/>
              </a:defRPr>
            </a:pPr>
            <a:r>
              <a:t>两层ConvLSTM提取序列特征，Softmax输出三类意图概率。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353175"/>
            <a:ext cx="11153775" cy="0"/>
          </a:xfrm>
          <a:prstGeom prst="line">
            <a:avLst/>
          </a:prstGeom>
          <a:ln w="25400">
            <a:solidFill>
              <a:srgbClr val="D8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486525"/>
            <a:ext cx="10382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125" b="0">
                <a:solidFill>
                  <a:srgbClr val="627286"/>
                </a:solidFill>
                <a:latin typeface="Noto Sans CJK SC"/>
              </a:defRPr>
            </a:pPr>
            <a:r>
              <a:t>来源：论文图5；参数精简自论文表7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0" y="6448425"/>
            <a:ext cx="904875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350" b="0">
                <a:solidFill>
                  <a:srgbClr val="4472C4"/>
                </a:solidFill>
                <a:latin typeface="Noto Sans CJK SC"/>
              </a:defRPr>
            </a:pPr>
            <a:r>
              <a:t>09 / 14</a:t>
            </a:r>
          </a:p>
        </p:txBody>
      </p:sp>
      <p:pic>
        <p:nvPicPr>
          <p:cNvPr id="11" name="Picture 10" descr="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258" y="2219325"/>
            <a:ext cx="8980432" cy="26574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010150"/>
            <a:ext cx="109537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275" b="0">
                <a:solidFill>
                  <a:srgbClr val="627286"/>
                </a:solidFill>
                <a:latin typeface="Noto Sans CJK SC"/>
              </a:defRPr>
            </a:pPr>
            <a:r>
              <a:t>论文图5：ConvLSTM车辆换道意图预测模型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599" y="5476875"/>
            <a:ext cx="10210800" cy="342900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5850" y="5572125"/>
            <a:ext cx="2362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t>优化器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5572125"/>
            <a:ext cx="2362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t>学习率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1250" y="5572125"/>
            <a:ext cx="2362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t>Dropout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3950" y="5572125"/>
            <a:ext cx="2362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t>批次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599" y="5819775"/>
            <a:ext cx="10210800" cy="3429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5850" y="5915025"/>
            <a:ext cx="2362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500" b="0">
                <a:solidFill>
                  <a:srgbClr val="25364A"/>
                </a:solidFill>
                <a:latin typeface="Noto Sans CJK SC"/>
              </a:defRPr>
            </a:pPr>
            <a:r>
              <a:t>Adam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8550" y="5915025"/>
            <a:ext cx="2362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500" b="0">
                <a:solidFill>
                  <a:srgbClr val="25364A"/>
                </a:solidFill>
                <a:latin typeface="Noto Sans CJK SC"/>
              </a:defRPr>
            </a:pPr>
            <a:r>
              <a:t>0.01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1250" y="5915025"/>
            <a:ext cx="2362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500" b="0">
                <a:solidFill>
                  <a:srgbClr val="25364A"/>
                </a:solidFill>
                <a:latin typeface="Noto Sans CJK SC"/>
              </a:defRPr>
            </a:pPr>
            <a:r>
              <a:t>0.2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3950" y="5915025"/>
            <a:ext cx="2362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500" b="0">
                <a:solidFill>
                  <a:srgbClr val="25364A"/>
                </a:solidFill>
                <a:latin typeface="Noto Sans CJK SC"/>
              </a:defRPr>
            </a:pPr>
            <a:r>
              <a:t>128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257175"/>
            <a:ext cx="10668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275" b="1">
                <a:solidFill>
                  <a:srgbClr val="4472C4"/>
                </a:solidFill>
                <a:latin typeface="Noto Sans CJK SC"/>
              </a:defRPr>
            </a:pPr>
            <a:r>
              <a:t>06 · 实验证据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647700"/>
            <a:ext cx="111442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700" b="1">
                <a:solidFill>
                  <a:srgbClr val="18365D"/>
                </a:solidFill>
                <a:latin typeface="Noto Sans CJK SC"/>
              </a:defRPr>
            </a:pPr>
            <a:r>
              <a:t>实验设计与评价指标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1409700"/>
            <a:ext cx="11144250" cy="55245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533525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1">
                <a:solidFill>
                  <a:srgbClr val="147D92"/>
                </a:solidFill>
                <a:latin typeface="Noto Sans CJK SC"/>
              </a:defRPr>
            </a:pPr>
            <a:r>
              <a:t>通过风格分组验证与基线对照，分别观察风格差异和整体方法收益。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353175"/>
            <a:ext cx="11153775" cy="0"/>
          </a:xfrm>
          <a:prstGeom prst="line">
            <a:avLst/>
          </a:prstGeom>
          <a:ln w="25400">
            <a:solidFill>
              <a:srgbClr val="D8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486525"/>
            <a:ext cx="10382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125" b="0">
                <a:solidFill>
                  <a:srgbClr val="627286"/>
                </a:solidFill>
                <a:latin typeface="Noto Sans CJK SC"/>
              </a:defRPr>
            </a:pPr>
            <a:r>
              <a:t>来源：论文第4节、表8、表9；* 表示未划分驾驶风格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0" y="6448425"/>
            <a:ext cx="904875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350" b="0">
                <a:solidFill>
                  <a:srgbClr val="4472C4"/>
                </a:solidFill>
                <a:latin typeface="Noto Sans CJK SC"/>
              </a:defRPr>
            </a:pPr>
            <a:r>
              <a:t>10 /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4350" y="2305050"/>
            <a:ext cx="5362575" cy="22098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4350" y="2305050"/>
            <a:ext cx="47625" cy="22098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900" y="2486025"/>
            <a:ext cx="4943475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4472C4"/>
                </a:solidFill>
                <a:latin typeface="Noto Sans CJK SC"/>
              </a:defRPr>
            </a:pPr>
            <a:r>
              <a:t>风格分组验证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2924175"/>
            <a:ext cx="4943475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保守型／一般型／激进型</a:t>
            </a: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各组按8∶2划分训练集与测试集</a:t>
            </a: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统一使用ConvLSTM预测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725" y="2305050"/>
            <a:ext cx="5476875" cy="220980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725" y="2305050"/>
            <a:ext cx="47625" cy="2209800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275" y="2486025"/>
            <a:ext cx="5057775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147D92"/>
                </a:solidFill>
                <a:latin typeface="Noto Sans CJK SC"/>
              </a:defRPr>
            </a:pPr>
            <a:r>
              <a:t>四种模型对照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2924175"/>
            <a:ext cx="5057775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CNN*、LSTM*、ConvLSTM*</a:t>
            </a: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与考虑风格的ConvLSTM比较</a:t>
            </a: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重点：同一网络有无风格划分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325" y="4962525"/>
            <a:ext cx="3143250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18365D"/>
                </a:solidFill>
                <a:latin typeface="Noto Sans CJK SC"/>
              </a:defRPr>
            </a:pPr>
            <a:r>
              <a:t>准确率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325" y="5448300"/>
            <a:ext cx="3143250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00" b="0">
                <a:solidFill>
                  <a:srgbClr val="25364A"/>
                </a:solidFill>
                <a:latin typeface="Noto Sans CJK SC"/>
              </a:defRPr>
            </a:pPr>
            <a:r>
              <a:t>整体分类正确程度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6250" y="4962525"/>
            <a:ext cx="3409950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18365D"/>
                </a:solidFill>
                <a:latin typeface="Noto Sans CJK SC"/>
              </a:defRPr>
            </a:pPr>
            <a:r>
              <a:t>精确率／召回率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6250" y="5448300"/>
            <a:ext cx="3409950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00" b="0">
                <a:solidFill>
                  <a:srgbClr val="25364A"/>
                </a:solidFill>
                <a:latin typeface="Noto Sans CJK SC"/>
              </a:defRPr>
            </a:pPr>
            <a:r>
              <a:t>各意图类别的识别表现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4962525"/>
            <a:ext cx="3143250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18365D"/>
                </a:solidFill>
                <a:latin typeface="Noto Sans CJK SC"/>
              </a:defRPr>
            </a:pPr>
            <a:r>
              <a:t>混淆矩阵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448300"/>
            <a:ext cx="3143250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00" b="0">
                <a:solidFill>
                  <a:srgbClr val="25364A"/>
                </a:solidFill>
                <a:latin typeface="Noto Sans CJK SC"/>
              </a:defRPr>
            </a:pPr>
            <a:r>
              <a:t>真实与预测类别的对应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257175"/>
            <a:ext cx="10668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275" b="1">
                <a:solidFill>
                  <a:srgbClr val="4472C4"/>
                </a:solidFill>
                <a:latin typeface="Noto Sans CJK SC"/>
              </a:defRPr>
            </a:pPr>
            <a:r>
              <a:t>06 · 实验证据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647700"/>
            <a:ext cx="111442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700" b="1">
                <a:solidFill>
                  <a:srgbClr val="18365D"/>
                </a:solidFill>
                <a:latin typeface="Noto Sans CJK SC"/>
              </a:defRPr>
            </a:pPr>
            <a:r>
              <a:t>不同驾驶风格下的预测结果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1409700"/>
            <a:ext cx="11144250" cy="55245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533525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1">
                <a:solidFill>
                  <a:srgbClr val="147D92"/>
                </a:solidFill>
                <a:latin typeface="Noto Sans CJK SC"/>
              </a:defRPr>
            </a:pPr>
            <a:r>
              <a:t>保守型准确率最高，激进型相对更难识别；右换道仍需关注。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353175"/>
            <a:ext cx="11153775" cy="0"/>
          </a:xfrm>
          <a:prstGeom prst="line">
            <a:avLst/>
          </a:prstGeom>
          <a:ln w="25400">
            <a:solidFill>
              <a:srgbClr val="D8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486525"/>
            <a:ext cx="10382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125" b="0">
                <a:solidFill>
                  <a:srgbClr val="627286"/>
                </a:solidFill>
                <a:latin typeface="Noto Sans CJK SC"/>
              </a:defRPr>
            </a:pPr>
            <a:r>
              <a:t>来源：论文表8；右图为论文图6（完整）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0" y="6448425"/>
            <a:ext cx="904875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350" b="0">
                <a:solidFill>
                  <a:srgbClr val="4472C4"/>
                </a:solidFill>
                <a:latin typeface="Noto Sans CJK SC"/>
              </a:defRPr>
            </a:pPr>
            <a:r>
              <a:t>11 / 14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14350" y="2352675"/>
          <a:ext cx="6019800" cy="31718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14350" y="4943475"/>
            <a:ext cx="41910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200" b="0">
                <a:solidFill>
                  <a:srgbClr val="627286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350" y="4469130"/>
            <a:ext cx="41910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200" b="0">
                <a:solidFill>
                  <a:srgbClr val="627286"/>
                </a:solidFill>
                <a:latin typeface="Noto Sans CJK SC"/>
              </a:defRPr>
            </a:pPr>
            <a: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350" y="3994784"/>
            <a:ext cx="41910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200" b="0">
                <a:solidFill>
                  <a:srgbClr val="627286"/>
                </a:solidFill>
                <a:latin typeface="Noto Sans CJK SC"/>
              </a:defRPr>
            </a:pPr>
            <a: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350" y="3520440"/>
            <a:ext cx="41910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200" b="0">
                <a:solidFill>
                  <a:srgbClr val="627286"/>
                </a:solidFill>
                <a:latin typeface="Noto Sans CJK SC"/>
              </a:defRPr>
            </a:pPr>
            <a: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350" y="3046094"/>
            <a:ext cx="41910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200" b="0">
                <a:solidFill>
                  <a:srgbClr val="627286"/>
                </a:solidFill>
                <a:latin typeface="Noto Sans CJK SC"/>
              </a:defRPr>
            </a:pPr>
            <a:r>
              <a:t>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350" y="2571750"/>
            <a:ext cx="41910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200" b="0">
                <a:solidFill>
                  <a:srgbClr val="627286"/>
                </a:solidFill>
                <a:latin typeface="Noto Sans CJK SC"/>
              </a:defRPr>
            </a:pPr>
            <a:r>
              <a:t>100</a:t>
            </a:r>
          </a:p>
        </p:txBody>
      </p:sp>
      <p:pic>
        <p:nvPicPr>
          <p:cNvPr id="18" name="Picture 17" descr="fig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857" y="2228850"/>
            <a:ext cx="3211534" cy="33813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53225" y="5800725"/>
            <a:ext cx="4905375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275" b="0">
                <a:solidFill>
                  <a:srgbClr val="627286"/>
                </a:solidFill>
                <a:latin typeface="Noto Sans CJK SC"/>
              </a:defRPr>
            </a:pPr>
            <a:r>
              <a:t>论文图6：三种风格及整体混淆矩阵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5762625"/>
            <a:ext cx="6105525" cy="485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575" b="0">
                <a:solidFill>
                  <a:srgbClr val="627286"/>
                </a:solidFill>
                <a:latin typeface="Noto Sans CJK SC"/>
              </a:defRPr>
            </a:pPr>
            <a:r>
              <a:t>右换道精确率：一般型85.51%，激进型85.42%。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257175"/>
            <a:ext cx="10668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275" b="1">
                <a:solidFill>
                  <a:srgbClr val="4472C4"/>
                </a:solidFill>
                <a:latin typeface="Noto Sans CJK SC"/>
              </a:defRPr>
            </a:pPr>
            <a:r>
              <a:t>06 · 实验证据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647700"/>
            <a:ext cx="111442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700" b="1">
                <a:solidFill>
                  <a:srgbClr val="18365D"/>
                </a:solidFill>
                <a:latin typeface="Noto Sans CJK SC"/>
              </a:defRPr>
            </a:pPr>
            <a:r>
              <a:t>与基线模型的对比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1409700"/>
            <a:ext cx="11144250" cy="55245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533525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1">
                <a:solidFill>
                  <a:srgbClr val="147D92"/>
                </a:solidFill>
                <a:latin typeface="Noto Sans CJK SC"/>
              </a:defRPr>
            </a:pPr>
            <a:r>
              <a:t>同一ConvLSTM网络引入风格划分后，准确率提高5.17个百分点。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353175"/>
            <a:ext cx="11153775" cy="0"/>
          </a:xfrm>
          <a:prstGeom prst="line">
            <a:avLst/>
          </a:prstGeom>
          <a:ln w="25400">
            <a:solidFill>
              <a:srgbClr val="D8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486525"/>
            <a:ext cx="10382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125" b="0">
                <a:solidFill>
                  <a:srgbClr val="627286"/>
                </a:solidFill>
                <a:latin typeface="Noto Sans CJK SC"/>
              </a:defRPr>
            </a:pPr>
            <a:r>
              <a:t>来源：论文表9（准确率重绘）；* 表示未划分驾驶风格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0" y="6448425"/>
            <a:ext cx="904875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350" b="0">
                <a:solidFill>
                  <a:srgbClr val="4472C4"/>
                </a:solidFill>
                <a:latin typeface="Noto Sans CJK SC"/>
              </a:defRPr>
            </a:pPr>
            <a:r>
              <a:t>12 / 14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14350" y="2314575"/>
          <a:ext cx="7886700" cy="34861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14350" y="5219700"/>
            <a:ext cx="41910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200" b="0">
                <a:solidFill>
                  <a:srgbClr val="627286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350" y="4682490"/>
            <a:ext cx="41910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200" b="0">
                <a:solidFill>
                  <a:srgbClr val="627286"/>
                </a:solidFill>
                <a:latin typeface="Noto Sans CJK SC"/>
              </a:defRPr>
            </a:pPr>
            <a: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350" y="4145280"/>
            <a:ext cx="41910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200" b="0">
                <a:solidFill>
                  <a:srgbClr val="627286"/>
                </a:solidFill>
                <a:latin typeface="Noto Sans CJK SC"/>
              </a:defRPr>
            </a:pPr>
            <a: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350" y="3608070"/>
            <a:ext cx="41910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200" b="0">
                <a:solidFill>
                  <a:srgbClr val="627286"/>
                </a:solidFill>
                <a:latin typeface="Noto Sans CJK SC"/>
              </a:defRPr>
            </a:pPr>
            <a: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350" y="3070859"/>
            <a:ext cx="41910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200" b="0">
                <a:solidFill>
                  <a:srgbClr val="627286"/>
                </a:solidFill>
                <a:latin typeface="Noto Sans CJK SC"/>
              </a:defRPr>
            </a:pPr>
            <a:r>
              <a:t>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350" y="2533650"/>
            <a:ext cx="41910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200" b="0">
                <a:solidFill>
                  <a:srgbClr val="627286"/>
                </a:solidFill>
                <a:latin typeface="Noto Sans CJK SC"/>
              </a:defRPr>
            </a:pPr>
            <a: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91575" y="2676525"/>
            <a:ext cx="2867025" cy="2600325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2550" y="2933700"/>
            <a:ext cx="2505075" cy="790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4575" b="1">
                <a:solidFill>
                  <a:srgbClr val="147D92"/>
                </a:solidFill>
                <a:latin typeface="Noto Sans CJK SC"/>
              </a:defRPr>
            </a:pPr>
            <a:r>
              <a:t>+5.17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2075" y="3800475"/>
            <a:ext cx="25050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2325" b="1">
                <a:solidFill>
                  <a:srgbClr val="147D92"/>
                </a:solidFill>
                <a:latin typeface="Noto Sans CJK SC"/>
              </a:defRPr>
            </a:pPr>
            <a:r>
              <a:t>个百分点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2550" y="4495800"/>
            <a:ext cx="2505075" cy="485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725" b="0">
                <a:solidFill>
                  <a:srgbClr val="18365D"/>
                </a:solidFill>
                <a:latin typeface="Noto Sans CJK SC"/>
              </a:defRPr>
            </a:pPr>
            <a:r>
              <a:t>94.76% − 89.59%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850" y="5915025"/>
            <a:ext cx="75057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  <a:defRPr sz="1275" b="0">
                <a:solidFill>
                  <a:srgbClr val="627286"/>
                </a:solidFill>
                <a:latin typeface="Noto Sans CJK SC"/>
              </a:defRPr>
            </a:pPr>
            <a:r>
              <a:t>同模型对照：ConvLSTM* → 考虑风格的ConvLSTM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257175"/>
            <a:ext cx="10668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275" b="1">
                <a:solidFill>
                  <a:srgbClr val="4472C4"/>
                </a:solidFill>
                <a:latin typeface="Noto Sans CJK SC"/>
              </a:defRPr>
            </a:pPr>
            <a:r>
              <a:t>07 · 结论与讨论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647700"/>
            <a:ext cx="111442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700" b="1">
                <a:solidFill>
                  <a:srgbClr val="18365D"/>
                </a:solidFill>
                <a:latin typeface="Noto Sans CJK SC"/>
              </a:defRPr>
            </a:pPr>
            <a:r>
              <a:t>主要结论与创新点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1409700"/>
            <a:ext cx="11144250" cy="55245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533525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1">
                <a:solidFill>
                  <a:srgbClr val="147D92"/>
                </a:solidFill>
                <a:latin typeface="Noto Sans CJK SC"/>
              </a:defRPr>
            </a:pPr>
            <a:r>
              <a:t>贡献在于将轨迹形成的风格类别纳入预测流程，并用同模型对照检验收益。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353175"/>
            <a:ext cx="11153775" cy="0"/>
          </a:xfrm>
          <a:prstGeom prst="line">
            <a:avLst/>
          </a:prstGeom>
          <a:ln w="25400">
            <a:solidFill>
              <a:srgbClr val="D8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486525"/>
            <a:ext cx="10382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125" b="0">
                <a:solidFill>
                  <a:srgbClr val="627286"/>
                </a:solidFill>
                <a:latin typeface="Noto Sans CJK SC"/>
              </a:defRPr>
            </a:pPr>
            <a:r>
              <a:t>论文：李文杰等，2026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0" y="6448425"/>
            <a:ext cx="904875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350" b="0">
                <a:solidFill>
                  <a:srgbClr val="4472C4"/>
                </a:solidFill>
                <a:latin typeface="Noto Sans CJK SC"/>
              </a:defRPr>
            </a:pPr>
            <a:r>
              <a:t>13 /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4350" y="2352675"/>
            <a:ext cx="5362575" cy="3343275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4350" y="2352675"/>
            <a:ext cx="47625" cy="334327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900" y="2533650"/>
            <a:ext cx="4943475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4472C4"/>
                </a:solidFill>
                <a:latin typeface="Noto Sans CJK SC"/>
              </a:defRPr>
            </a:pPr>
            <a:r>
              <a:t>主要结论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2971800"/>
            <a:ext cx="4943475" cy="2657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1  所用数据上，整体准确率为94.76%。</a:t>
            </a: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2  不同风格的预测难度存在差异。</a:t>
            </a: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3  部分类别的识别仍有改进空间。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725" y="2352675"/>
            <a:ext cx="5476875" cy="3343275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725" y="2352675"/>
            <a:ext cx="47625" cy="3343275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275" y="2533650"/>
            <a:ext cx="5057775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147D92"/>
                </a:solidFill>
                <a:latin typeface="Noto Sans CJK SC"/>
              </a:defRPr>
            </a:pPr>
            <a:r>
              <a:t>方法贡献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2971800"/>
            <a:ext cx="5057775" cy="2657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1  统计特征 → 驾驶风格类别。</a:t>
            </a: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2  风格分组与ConvLSTM结合。</a:t>
            </a: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3  设置有无风格划分的同模型对照。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4350" y="257175"/>
            <a:ext cx="10668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275" b="1">
                <a:solidFill>
                  <a:srgbClr val="4472C4"/>
                </a:solidFill>
                <a:latin typeface="Noto Sans CJK SC"/>
              </a:defRPr>
            </a:pPr>
            <a:r>
              <a:t>07 · 结论与讨论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647700"/>
            <a:ext cx="11144250" cy="63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700" b="1">
                <a:solidFill>
                  <a:srgbClr val="18365D"/>
                </a:solidFill>
                <a:latin typeface="Noto Sans CJK SC"/>
              </a:defRPr>
            </a:pPr>
            <a:r>
              <a:t>局限性与研究启示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50" y="1409700"/>
            <a:ext cx="11144250" cy="552450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533525"/>
            <a:ext cx="107632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1">
                <a:solidFill>
                  <a:srgbClr val="147D92"/>
                </a:solidFill>
                <a:latin typeface="Noto Sans CJK SC"/>
              </a:defRPr>
            </a:pPr>
            <a:r>
              <a:t>把意图识别的实验收益，与实时部署和交通流层面的结论分开讨论。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353175"/>
            <a:ext cx="11153775" cy="0"/>
          </a:xfrm>
          <a:prstGeom prst="line">
            <a:avLst/>
          </a:prstGeom>
          <a:ln w="25400">
            <a:solidFill>
              <a:srgbClr val="D8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486525"/>
            <a:ext cx="10382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125" b="0">
                <a:solidFill>
                  <a:srgbClr val="627286"/>
                </a:solidFill>
                <a:latin typeface="Noto Sans CJK SC"/>
              </a:defRPr>
            </a:pPr>
            <a:r>
              <a:t>来源：论文第5节；待验证问题与研究启示为汇报者讨论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0" y="6448425"/>
            <a:ext cx="904875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0"/>
              </a:spcAft>
              <a:defRPr sz="1350" b="0">
                <a:solidFill>
                  <a:srgbClr val="4472C4"/>
                </a:solidFill>
                <a:latin typeface="Noto Sans CJK SC"/>
              </a:defRPr>
            </a:pPr>
            <a:r>
              <a:t>14 /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4350" y="2257425"/>
            <a:ext cx="5362575" cy="2371725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4350" y="2257425"/>
            <a:ext cx="47625" cy="237172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900" y="2438400"/>
            <a:ext cx="4943475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4472C4"/>
                </a:solidFill>
                <a:latin typeface="Noto Sans CJK SC"/>
              </a:defRPr>
            </a:pPr>
            <a:r>
              <a:t>论文已验证的范围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2876550"/>
            <a:ext cx="4943475" cy="1685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NGSIM历史轨迹上的三类意图识别</a:t>
            </a: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按风格分组后的预测表现</a:t>
            </a: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与CNN、LSTM、ConvLSTM基线比较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725" y="2257425"/>
            <a:ext cx="5476875" cy="2371725"/>
          </a:xfrm>
          <a:prstGeom prst="rect">
            <a:avLst/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725" y="2257425"/>
            <a:ext cx="47625" cy="2371725"/>
          </a:xfrm>
          <a:prstGeom prst="rect">
            <a:avLst/>
          </a:prstGeom>
          <a:solidFill>
            <a:srgbClr val="D87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275" y="2438400"/>
            <a:ext cx="5057775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100" b="1">
                <a:solidFill>
                  <a:srgbClr val="D87835"/>
                </a:solidFill>
                <a:latin typeface="Noto Sans CJK SC"/>
              </a:defRPr>
            </a:pPr>
            <a:r>
              <a:t>待验证的问题 · 汇报者讨论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2876550"/>
            <a:ext cx="5057775" cy="1685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网联环境下的实时部署与延迟</a:t>
            </a: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预测提前量、跨场景泛化</a:t>
            </a: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训练／测试是否按车辆隔离</a:t>
            </a:r>
          </a:p>
          <a:p>
            <a:pPr algn="l">
              <a:lnSpc>
                <a:spcPct val="116000"/>
              </a:lnSpc>
              <a:spcAft>
                <a:spcPts val="0"/>
              </a:spcAft>
              <a:defRPr sz="1875" b="0">
                <a:solidFill>
                  <a:srgbClr val="25364A"/>
                </a:solidFill>
                <a:latin typeface="Noto Sans CJK SC"/>
              </a:defRPr>
            </a:pPr>
            <a:r>
              <a:t>样本规模、意图类别分布的影响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4350" y="4943475"/>
            <a:ext cx="11144250" cy="1085850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5086350"/>
            <a:ext cx="107061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1875" b="1">
                <a:solidFill>
                  <a:srgbClr val="FFFFFF"/>
                </a:solidFill>
                <a:latin typeface="Noto Sans CJK SC"/>
              </a:defRPr>
            </a:pPr>
            <a:r>
              <a:t>对自身研究的启示 · 汇报者讨论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5534025"/>
            <a:ext cx="107061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  <a:defRPr sz="2250" b="0">
                <a:solidFill>
                  <a:srgbClr val="FFFFFF"/>
                </a:solidFill>
                <a:latin typeface="Noto Sans CJK SC"/>
              </a:defRPr>
            </a:pPr>
            <a:r>
              <a:t>驾驶风格如何影响多车切入交互及扰动传播？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